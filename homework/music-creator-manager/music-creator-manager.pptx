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usic-creator-manag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usic-creator-manag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6858000" y="571500"/>
            <a:ext cx="5715000" cy="5715000"/>
          </a:xfrm>
          <a:prstGeom prst="ellipse">
            <a:avLst/>
          </a:prstGeom>
          <a:gradFill>
            <a:gsLst>
              <a:gs pos="0">
                <a:srgbClr val="8A7CFF">
                  <a:alpha val="32000"/>
                </a:srgbClr>
              </a:gs>
              <a:gs pos="100000">
                <a:srgbClr val="8A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0" y="0"/>
                </a:moveTo>
                <a:lnTo>
                  <a:pt x="10668000" y="0"/>
                </a:lnTo>
                <a:moveTo>
                  <a:pt x="0" y="5181600"/>
                </a:moveTo>
                <a:lnTo>
                  <a:pt x="10668000" y="5181600"/>
                </a:lnTo>
              </a:path>
            </a:pathLst>
          </a:custGeom>
          <a:noFill/>
          <a:ln w="9525">
            <a:solidFill>
              <a:srgbClr val="263A5E">
                <a:alpha val="55000"/>
              </a:srgbClr>
            </a:solidFill>
          </a:ln>
        </p:spPr>
      </p:sp>
      <p:sp>
        <p:nvSpPr>
          <p:cNvPr id="4" name="Freeform 4"/>
          <p:cNvSpPr/>
          <p:nvPr/>
        </p:nvSpPr>
        <p:spPr>
          <a:xfrm>
            <a:off x="1143000" y="1428750"/>
            <a:ext cx="1714500" cy="76200"/>
          </a:xfrm>
          <a:custGeom>
            <a:avLst/>
            <a:gdLst/>
            <a:ahLst/>
            <a:cxnLst/>
            <a:rect l="l" t="t" r="r" b="b"/>
            <a:pathLst>
              <a:path w="1714500" h="76200">
                <a:moveTo>
                  <a:pt x="0" y="0"/>
                </a:moveTo>
                <a:lnTo>
                  <a:pt x="0" y="76200"/>
                </a:lnTo>
                <a:moveTo>
                  <a:pt x="285750" y="0"/>
                </a:moveTo>
                <a:lnTo>
                  <a:pt x="285750" y="76200"/>
                </a:lnTo>
                <a:moveTo>
                  <a:pt x="571500" y="0"/>
                </a:moveTo>
                <a:lnTo>
                  <a:pt x="571500" y="76200"/>
                </a:lnTo>
                <a:moveTo>
                  <a:pt x="857250" y="0"/>
                </a:moveTo>
                <a:lnTo>
                  <a:pt x="857250" y="76200"/>
                </a:lnTo>
                <a:moveTo>
                  <a:pt x="1143000" y="0"/>
                </a:moveTo>
                <a:lnTo>
                  <a:pt x="1143000" y="76200"/>
                </a:lnTo>
                <a:moveTo>
                  <a:pt x="1428750" y="0"/>
                </a:moveTo>
                <a:lnTo>
                  <a:pt x="1428750" y="76200"/>
                </a:lnTo>
                <a:moveTo>
                  <a:pt x="1714500" y="0"/>
                </a:moveTo>
                <a:lnTo>
                  <a:pt x="1714500" y="76200"/>
                </a:lnTo>
              </a:path>
            </a:pathLst>
          </a:custGeom>
          <a:noFill/>
          <a:ln w="9525">
            <a:solidFill>
              <a:srgbClr val="38BDF8">
                <a:alpha val="14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904" y="1146810"/>
            <a:ext cx="54464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225" dirty="0">
                <a:solidFill>
                  <a:srgbClr val="64789E"/>
                </a:solidFill>
                <a:latin typeface="Microsoft YaHei"/>
                <a:ea typeface="Microsoft YaHei"/>
                <a:cs typeface="Microsoft YaHei"/>
              </a:rPr>
              <a:t>个人作业 · 重制版 — REBUILT WITH PPT-MASTER SKILL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04850" y="2382679"/>
            <a:ext cx="3907338" cy="2330291"/>
            <a:chOff x="704850" y="2382679"/>
            <a:chExt cx="3907338" cy="2330291"/>
          </a:xfrm>
        </p:grpSpPr>
        <p:sp>
          <p:nvSpPr>
            <p:cNvPr id="6" name="TextBox 6"/>
            <p:cNvSpPr txBox="1"/>
            <p:nvPr/>
          </p:nvSpPr>
          <p:spPr>
            <a:xfrm>
              <a:off x="753999" y="2382679"/>
              <a:ext cx="38581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spc="450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4850" y="2807970"/>
              <a:ext cx="385457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E9EFFB"/>
                  </a:solidFill>
                  <a:effectLst>
                    <a:glow rad="66675">
                      <a:srgbClr val="8A7CFF">
                        <a:alpha val="4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音乐人运营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4850" y="3665220"/>
              <a:ext cx="338507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gradFill>
                    <a:gsLst>
                      <a:gs pos="0">
                        <a:srgbClr val="8A7CFF"/>
                      </a:gs>
                      <a:gs pos="100000">
                        <a:srgbClr val="38BDF8"/>
                      </a:gs>
                    </a:gsLst>
                    <a:lin ang="0" scaled="1"/>
                  </a:gradFill>
                  <a:latin typeface="Microsoft YaHei"/>
                  <a:ea typeface="Microsoft YaHei"/>
                  <a:cs typeface="Microsoft YaHei"/>
                </a:rPr>
                <a:t>AI 工作台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455295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52856" y="4911090"/>
            <a:ext cx="5138928" cy="352044"/>
            <a:chOff x="752856" y="4911090"/>
            <a:chExt cx="5138928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752856" y="4911090"/>
              <a:ext cx="5138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把碎片化的艺人运营日常,交给一条 AI 流水线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523" y="5710714"/>
            <a:ext cx="3738027" cy="502920"/>
            <a:chOff x="755523" y="5710714"/>
            <a:chExt cx="3738027" cy="502920"/>
          </a:xfrm>
        </p:grpSpPr>
        <p:sp>
          <p:nvSpPr>
            <p:cNvPr id="13" name="TextBox 13"/>
            <p:cNvSpPr txBox="1"/>
            <p:nvPr/>
          </p:nvSpPr>
          <p:spPr>
            <a:xfrm>
              <a:off x="755523" y="5710714"/>
              <a:ext cx="1805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belle · 音乐创作者运营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5993606"/>
              <a:ext cx="3737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4A5D80"/>
                  </a:solidFill>
                  <a:latin typeface="Microsoft YaHei"/>
                  <a:ea typeface="Microsoft YaHei"/>
                  <a:cs typeface="Microsoft YaHei"/>
                </a:rPr>
                <a:t>2026.08 · SKILL: HUGOHE / PPT-MASTER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382000" y="2076450"/>
            <a:ext cx="2857500" cy="3349561"/>
            <a:chOff x="8382000" y="2076450"/>
            <a:chExt cx="2857500" cy="3349561"/>
          </a:xfrm>
        </p:grpSpPr>
        <p:sp>
          <p:nvSpPr>
            <p:cNvPr id="16" name="Ellipse 16"/>
            <p:cNvSpPr/>
            <p:nvPr/>
          </p:nvSpPr>
          <p:spPr>
            <a:xfrm>
              <a:off x="8382000" y="2076450"/>
              <a:ext cx="2857500" cy="2857500"/>
            </a:xfrm>
            <a:prstGeom prst="ellipse">
              <a:avLst/>
            </a:prstGeom>
            <a:noFill/>
            <a:ln w="9525">
              <a:solidFill>
                <a:srgbClr val="263A5E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743950" y="2438400"/>
              <a:ext cx="2133600" cy="2133600"/>
            </a:xfrm>
            <a:prstGeom prst="ellipse">
              <a:avLst/>
            </a:prstGeom>
            <a:noFill/>
            <a:ln w="9525">
              <a:solidFill>
                <a:srgbClr val="2E4468"/>
              </a:solidFill>
              <a:prstDash val="dash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067800" y="2457450"/>
              <a:ext cx="1485900" cy="2095500"/>
              <a:chOff x="9067800" y="2457450"/>
              <a:chExt cx="1485900" cy="2095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9067800" y="3162300"/>
                <a:ext cx="114300" cy="6858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>
                      <a:alpha val="55000"/>
                    </a:srgbClr>
                  </a:gs>
                  <a:gs pos="100000">
                    <a:srgbClr val="38BDF8">
                      <a:alpha val="55000"/>
                    </a:srgbClr>
                  </a:gs>
                </a:gsLst>
                <a:lin ang="16200000" scaled="1"/>
              </a:gra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296400" y="2933700"/>
                <a:ext cx="114300" cy="1143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>
                      <a:alpha val="75000"/>
                    </a:srgbClr>
                  </a:gs>
                  <a:gs pos="100000">
                    <a:srgbClr val="38BDF8">
                      <a:alpha val="75000"/>
                    </a:srgbClr>
                  </a:gs>
                </a:gsLst>
                <a:lin ang="16200000" scaled="1"/>
              </a:gra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9525000" y="2705100"/>
                <a:ext cx="114300" cy="16002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/>
                  </a:gs>
                  <a:gs pos="100000">
                    <a:srgbClr val="38BDF8"/>
                  </a:gs>
                </a:gsLst>
                <a:lin ang="16200000" scaled="1"/>
              </a:gra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9753600" y="2457450"/>
                <a:ext cx="114300" cy="20955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/>
                  </a:gs>
                  <a:gs pos="100000">
                    <a:srgbClr val="38BDF8"/>
                  </a:gs>
                </a:gsLst>
                <a:lin ang="16200000" scaled="1"/>
              </a:gradFill>
              <a:ln>
                <a:noFill/>
              </a:ln>
              <a:effectLst>
                <a:glow rad="47625">
                  <a:srgbClr val="38BDF8">
                    <a:alpha val="45000"/>
                  </a:srgbClr>
                </a:glow>
              </a:effectLst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9982200" y="2705100"/>
                <a:ext cx="114300" cy="16002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/>
                  </a:gs>
                  <a:gs pos="100000">
                    <a:srgbClr val="38BDF8"/>
                  </a:gs>
                </a:gsLst>
                <a:lin ang="16200000" scaled="1"/>
              </a:gra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0210800" y="2933700"/>
                <a:ext cx="114300" cy="1143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>
                      <a:alpha val="75000"/>
                    </a:srgbClr>
                  </a:gs>
                  <a:gs pos="100000">
                    <a:srgbClr val="38BDF8">
                      <a:alpha val="75000"/>
                    </a:srgbClr>
                  </a:gs>
                </a:gsLst>
                <a:lin ang="16200000" scaled="1"/>
              </a:gra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0439400" y="3162300"/>
                <a:ext cx="114300" cy="6858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A7CFF">
                      <a:alpha val="55000"/>
                    </a:srgbClr>
                  </a:gs>
                  <a:gs pos="100000">
                    <a:srgbClr val="38BDF8">
                      <a:alpha val="55000"/>
                    </a:srgbClr>
                  </a:gs>
                </a:gsLst>
                <a:lin ang="16200000" scaled="1"/>
              </a:gra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25789" y="5220652"/>
              <a:ext cx="2569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spc="300" dirty="0">
                  <a:solidFill>
                    <a:srgbClr val="4A5D80"/>
                  </a:solidFill>
                  <a:latin typeface="Microsoft YaHei"/>
                  <a:ea typeface="Microsoft YaHei"/>
                  <a:cs typeface="Microsoft YaHei"/>
                </a:rPr>
                <a:t>SIGNAL IN · INSIGHT OUT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5034305" cy="948690"/>
            <a:chOff x="746760" y="647700"/>
            <a:chExt cx="5034305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595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01 · 现状 THE DAILY GRIND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50343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每天叫醒我的,是 99+ 未读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4380" y="1762125"/>
            <a:ext cx="6981825" cy="293370"/>
            <a:chOff x="754380" y="1762125"/>
            <a:chExt cx="6981825" cy="293370"/>
          </a:xfrm>
        </p:grpSpPr>
        <p:sp>
          <p:nvSpPr>
            <p:cNvPr id="9" name="TextBox 9"/>
            <p:cNvSpPr txBox="1"/>
            <p:nvPr/>
          </p:nvSpPr>
          <p:spPr>
            <a:xfrm>
              <a:off x="754380" y="1762125"/>
              <a:ext cx="69818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12 位签约音乐人 · 9 个飞书群 · 5 个平台后台——这是我睁眼要面对的信息量。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2171700"/>
            <a:ext cx="5219700" cy="1790700"/>
            <a:chOff x="762000" y="2171700"/>
            <a:chExt cx="5219700" cy="1790700"/>
          </a:xfrm>
        </p:grpSpPr>
        <p:sp>
          <p:nvSpPr>
            <p:cNvPr id="11" name="Rectangle 11"/>
            <p:cNvSpPr/>
            <p:nvPr/>
          </p:nvSpPr>
          <p:spPr>
            <a:xfrm>
              <a:off x="762000" y="2171700"/>
              <a:ext cx="5219700" cy="1790700"/>
            </a:xfrm>
            <a:prstGeom prst="roundRect">
              <a:avLst>
                <a:gd name="adj" fmla="val 744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8169" y="2508647"/>
              <a:ext cx="316929" cy="280940"/>
            </a:xfrm>
            <a:custGeom>
              <a:avLst/>
              <a:gdLst/>
              <a:ahLst/>
              <a:cxnLst/>
              <a:rect l="l" t="t" r="r" b="b"/>
              <a:pathLst>
                <a:path w="316929" h="280940">
                  <a:moveTo>
                    <a:pt x="16256" y="266304"/>
                  </a:moveTo>
                  <a:lnTo>
                    <a:pt x="36894" y="204391"/>
                  </a:lnTo>
                  <a:cubicBezTo>
                    <a:pt x="0" y="149829"/>
                    <a:pt x="14256" y="79423"/>
                    <a:pt x="70231" y="39703"/>
                  </a:cubicBezTo>
                  <a:cubicBezTo>
                    <a:pt x="126207" y="0"/>
                    <a:pt x="206598" y="3254"/>
                    <a:pt x="258271" y="47323"/>
                  </a:cubicBezTo>
                  <a:cubicBezTo>
                    <a:pt x="309944" y="91408"/>
                    <a:pt x="316929" y="162671"/>
                    <a:pt x="274606" y="214027"/>
                  </a:cubicBezTo>
                  <a:cubicBezTo>
                    <a:pt x="232283" y="265383"/>
                    <a:pt x="153718" y="280940"/>
                    <a:pt x="90869" y="250429"/>
                  </a:cubicBezTo>
                  <a:lnTo>
                    <a:pt x="16256" y="266304"/>
                  </a:lnTo>
                </a:path>
              </a:pathLst>
            </a:custGeom>
            <a:noFill/>
            <a:ln w="31750">
              <a:solidFill>
                <a:srgbClr val="8A7C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09725" y="25217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艺人沟通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561" y="3103721"/>
              <a:ext cx="1998218" cy="5835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跨 9 个飞书群同步进度,</a:t>
              </a:r>
              <a:br/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关键决策淹没在闲聊里。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10300" y="2171700"/>
            <a:ext cx="5219700" cy="1790700"/>
            <a:chOff x="6210300" y="2171700"/>
            <a:chExt cx="52197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210300" y="2171700"/>
              <a:ext cx="5219700" cy="1790700"/>
            </a:xfrm>
            <a:prstGeom prst="roundRect">
              <a:avLst>
                <a:gd name="adj" fmla="val 744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578600" y="2505075"/>
              <a:ext cx="254001" cy="285751"/>
              <a:chOff x="6578600" y="2505075"/>
              <a:chExt cx="254001" cy="28575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578600" y="2536825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222250" y="0"/>
                    </a:lnTo>
                    <a:cubicBezTo>
                      <a:pt x="239786" y="0"/>
                      <a:pt x="254001" y="14215"/>
                      <a:pt x="254001" y="31750"/>
                    </a:cubicBezTo>
                    <a:lnTo>
                      <a:pt x="254001" y="222250"/>
                    </a:lnTo>
                    <a:cubicBezTo>
                      <a:pt x="254001" y="239786"/>
                      <a:pt x="239786" y="254001"/>
                      <a:pt x="222250" y="254001"/>
                    </a:cubicBez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38BDF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69101" y="25050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38BDF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42100" y="25050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38BDF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578600" y="2632075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38BDF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42100" y="26955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0"/>
                    </a:lnTo>
                    <a:lnTo>
                      <a:pt x="31750" y="31750"/>
                    </a:lnTo>
                    <a:lnTo>
                      <a:pt x="0" y="317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38BDF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058025" y="25217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发行排期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7861" y="3103721"/>
              <a:ext cx="2097405" cy="5835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收歌、定档、物料、上线,</a:t>
              </a:r>
              <a:br/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每个节点都靠人肉盯梢。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191000"/>
            <a:ext cx="5219700" cy="1790700"/>
            <a:chOff x="762000" y="4191000"/>
            <a:chExt cx="5219700" cy="1790700"/>
          </a:xfrm>
        </p:grpSpPr>
        <p:sp>
          <p:nvSpPr>
            <p:cNvPr id="26" name="Rectangle 26"/>
            <p:cNvSpPr/>
            <p:nvPr/>
          </p:nvSpPr>
          <p:spPr>
            <a:xfrm>
              <a:off x="762000" y="4191000"/>
              <a:ext cx="5219700" cy="1790700"/>
            </a:xfrm>
            <a:prstGeom prst="roundRect">
              <a:avLst>
                <a:gd name="adj" fmla="val 744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30300" y="4572000"/>
              <a:ext cx="254001" cy="215901"/>
              <a:chOff x="1130300" y="4572000"/>
              <a:chExt cx="254001" cy="21590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130300" y="4778376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rgbClr val="34D39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30300" y="457200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142875"/>
                    </a:moveTo>
                    <a:lnTo>
                      <a:pt x="63500" y="47625"/>
                    </a:lnTo>
                    <a:lnTo>
                      <a:pt x="127000" y="79375"/>
                    </a:lnTo>
                    <a:lnTo>
                      <a:pt x="190500" y="0"/>
                    </a:lnTo>
                    <a:lnTo>
                      <a:pt x="254001" y="63500"/>
                    </a:lnTo>
                  </a:path>
                </a:pathLst>
              </a:custGeom>
              <a:noFill/>
              <a:ln w="31750">
                <a:solidFill>
                  <a:srgbClr val="34D399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609725" y="45410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数据复盘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9561" y="5123021"/>
              <a:ext cx="2638425" cy="5835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播放、涨粉、收入各在一个后台,</a:t>
              </a:r>
              <a:br/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周报全靠复制粘贴。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10300" y="4191000"/>
            <a:ext cx="5219700" cy="1790700"/>
            <a:chOff x="6210300" y="4191000"/>
            <a:chExt cx="5219700" cy="1790700"/>
          </a:xfrm>
        </p:grpSpPr>
        <p:sp>
          <p:nvSpPr>
            <p:cNvPr id="33" name="Rectangle 33"/>
            <p:cNvSpPr/>
            <p:nvPr/>
          </p:nvSpPr>
          <p:spPr>
            <a:xfrm>
              <a:off x="6210300" y="4191000"/>
              <a:ext cx="5219700" cy="1790700"/>
            </a:xfrm>
            <a:prstGeom prst="roundRect">
              <a:avLst>
                <a:gd name="adj" fmla="val 744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578600" y="4524375"/>
              <a:ext cx="254001" cy="285751"/>
              <a:chOff x="6578600" y="4524375"/>
              <a:chExt cx="254001" cy="28575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78600" y="4524375"/>
                <a:ext cx="254001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22250">
                    <a:moveTo>
                      <a:pt x="95250" y="31750"/>
                    </a:moveTo>
                    <a:cubicBezTo>
                      <a:pt x="95250" y="14215"/>
                      <a:pt x="109465" y="0"/>
                      <a:pt x="127000" y="0"/>
                    </a:cubicBezTo>
                    <a:cubicBezTo>
                      <a:pt x="144535" y="0"/>
                      <a:pt x="158750" y="14215"/>
                      <a:pt x="158750" y="31750"/>
                    </a:cubicBezTo>
                    <a:cubicBezTo>
                      <a:pt x="195901" y="49317"/>
                      <a:pt x="220324" y="85951"/>
                      <a:pt x="222250" y="127000"/>
                    </a:cubicBezTo>
                    <a:lnTo>
                      <a:pt x="222250" y="174625"/>
                    </a:lnTo>
                    <a:cubicBezTo>
                      <a:pt x="224673" y="194641"/>
                      <a:pt x="236457" y="212316"/>
                      <a:pt x="254001" y="222250"/>
                    </a:cubicBezTo>
                    <a:lnTo>
                      <a:pt x="0" y="222250"/>
                    </a:lnTo>
                    <a:cubicBezTo>
                      <a:pt x="17544" y="212316"/>
                      <a:pt x="29327" y="194641"/>
                      <a:pt x="31750" y="174625"/>
                    </a:cubicBezTo>
                    <a:lnTo>
                      <a:pt x="31750" y="127000"/>
                    </a:lnTo>
                    <a:cubicBezTo>
                      <a:pt x="33677" y="85951"/>
                      <a:pt x="58100" y="49317"/>
                      <a:pt x="95250" y="31750"/>
                    </a:cubicBezTo>
                  </a:path>
                </a:pathLst>
              </a:custGeom>
              <a:noFill/>
              <a:ln w="31750">
                <a:solidFill>
                  <a:srgbClr val="FBBF24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57975" y="474662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0"/>
                    </a:moveTo>
                    <a:lnTo>
                      <a:pt x="0" y="15875"/>
                    </a:lnTo>
                    <a:cubicBezTo>
                      <a:pt x="0" y="42178"/>
                      <a:pt x="21322" y="63500"/>
                      <a:pt x="47625" y="63500"/>
                    </a:cubicBezTo>
                    <a:cubicBezTo>
                      <a:pt x="73928" y="63500"/>
                      <a:pt x="95250" y="42178"/>
                      <a:pt x="95250" y="15875"/>
                    </a:cubicBez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FBBF24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58025" y="45410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粉丝与舆情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07861" y="5123021"/>
              <a:ext cx="2097405" cy="5835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评论区、热搜、突发状况,</a:t>
              </a:r>
              <a:br/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永远在下班后爆雷。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3656133" cy="948690"/>
            <a:chOff x="746760" y="647700"/>
            <a:chExt cx="3656133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547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02 · 冲突 BREAKING POINT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36561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人肉调度,撑不住了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1943100"/>
            <a:ext cx="5810250" cy="3924300"/>
            <a:chOff x="762000" y="1943100"/>
            <a:chExt cx="5810250" cy="392430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943100"/>
              <a:ext cx="5810250" cy="1181100"/>
              <a:chOff x="762000" y="1943100"/>
              <a:chExt cx="5810250" cy="11811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943100"/>
                <a:ext cx="581025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95032" y="2313027"/>
                <a:ext cx="285236" cy="252846"/>
              </a:xfrm>
              <a:custGeom>
                <a:avLst/>
                <a:gdLst/>
                <a:ahLst/>
                <a:cxnLst/>
                <a:rect l="l" t="t" r="r" b="b"/>
                <a:pathLst>
                  <a:path w="285236" h="252846">
                    <a:moveTo>
                      <a:pt x="14630" y="239673"/>
                    </a:moveTo>
                    <a:lnTo>
                      <a:pt x="33204" y="183952"/>
                    </a:lnTo>
                    <a:cubicBezTo>
                      <a:pt x="0" y="134845"/>
                      <a:pt x="12830" y="71480"/>
                      <a:pt x="63208" y="35733"/>
                    </a:cubicBezTo>
                    <a:cubicBezTo>
                      <a:pt x="113586" y="0"/>
                      <a:pt x="185938" y="2929"/>
                      <a:pt x="232443" y="42591"/>
                    </a:cubicBezTo>
                    <a:cubicBezTo>
                      <a:pt x="278949" y="82267"/>
                      <a:pt x="285236" y="146404"/>
                      <a:pt x="247145" y="192624"/>
                    </a:cubicBezTo>
                    <a:cubicBezTo>
                      <a:pt x="209055" y="238844"/>
                      <a:pt x="138346" y="252846"/>
                      <a:pt x="81782" y="225385"/>
                    </a:cubicBezTo>
                    <a:lnTo>
                      <a:pt x="14630" y="239673"/>
                    </a:lnTo>
                  </a:path>
                </a:pathLst>
              </a:custGeom>
              <a:noFill/>
              <a:ln w="28575">
                <a:solidFill>
                  <a:srgbClr val="F8717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10106" y="2205990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信息碎片化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12011" y="2627471"/>
                <a:ext cx="33693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重要决策请求,散落在几千条群消息里。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314700"/>
              <a:ext cx="5810250" cy="1181100"/>
              <a:chOff x="762000" y="3314700"/>
              <a:chExt cx="5810250" cy="11811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62000" y="3314700"/>
                <a:ext cx="581025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123950" y="3681412"/>
                <a:ext cx="228600" cy="257176"/>
                <a:chOff x="1123950" y="3681412"/>
                <a:chExt cx="228600" cy="257176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123950" y="3681412"/>
                  <a:ext cx="2286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85725">
                      <a:moveTo>
                        <a:pt x="0" y="42862"/>
                      </a:moveTo>
                      <a:cubicBezTo>
                        <a:pt x="0" y="66535"/>
                        <a:pt x="51174" y="85725"/>
                        <a:pt x="114300" y="85725"/>
                      </a:cubicBezTo>
                      <a:cubicBezTo>
                        <a:pt x="177426" y="85725"/>
                        <a:pt x="228600" y="66535"/>
                        <a:pt x="228600" y="42862"/>
                      </a:cubicBezTo>
                      <a:cubicBezTo>
                        <a:pt x="228600" y="19190"/>
                        <a:pt x="177426" y="0"/>
                        <a:pt x="114300" y="0"/>
                      </a:cubicBezTo>
                      <a:cubicBezTo>
                        <a:pt x="51174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rgbClr val="FBBF24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23950" y="3724275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BBF24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23950" y="381000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0"/>
                      </a:moveTo>
                      <a:lnTo>
                        <a:pt x="0" y="85725"/>
                      </a:lnTo>
                      <a:cubicBezTo>
                        <a:pt x="0" y="109397"/>
                        <a:pt x="51174" y="128588"/>
                        <a:pt x="114300" y="128588"/>
                      </a:cubicBezTo>
                      <a:cubicBezTo>
                        <a:pt x="177426" y="128588"/>
                        <a:pt x="228600" y="109397"/>
                        <a:pt x="228600" y="8572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28575">
                  <a:solidFill>
                    <a:srgbClr val="FBBF24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610106" y="35775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数据孤岛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12011" y="3999071"/>
                <a:ext cx="31495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5 个后台各说各话,没人看得到全局。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4686300"/>
              <a:ext cx="5810250" cy="1181100"/>
              <a:chOff x="762000" y="4686300"/>
              <a:chExt cx="5810250" cy="11811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4686300"/>
                <a:ext cx="581025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123950" y="5061787"/>
                <a:ext cx="228600" cy="239626"/>
                <a:chOff x="1123950" y="5061787"/>
                <a:chExt cx="228600" cy="239626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123950" y="5061787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228600" y="105525"/>
                      </a:moveTo>
                      <a:cubicBezTo>
                        <a:pt x="221417" y="53841"/>
                        <a:pt x="180535" y="13355"/>
                        <a:pt x="128783" y="6678"/>
                      </a:cubicBezTo>
                      <a:cubicBezTo>
                        <a:pt x="77031" y="0"/>
                        <a:pt x="27211" y="28782"/>
                        <a:pt x="7144" y="76950"/>
                      </a:cubicBezTo>
                      <a:moveTo>
                        <a:pt x="0" y="19800"/>
                      </a:moveTo>
                      <a:lnTo>
                        <a:pt x="0" y="76950"/>
                      </a:lnTo>
                      <a:lnTo>
                        <a:pt x="57150" y="76950"/>
                      </a:lnTo>
                    </a:path>
                  </a:pathLst>
                </a:custGeom>
                <a:noFill/>
                <a:ln w="28575">
                  <a:solidFill>
                    <a:srgbClr val="38BDF8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23950" y="5195888"/>
                  <a:ext cx="228600" cy="10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05525">
                      <a:moveTo>
                        <a:pt x="0" y="0"/>
                      </a:moveTo>
                      <a:cubicBezTo>
                        <a:pt x="7183" y="51684"/>
                        <a:pt x="48065" y="92170"/>
                        <a:pt x="99817" y="98847"/>
                      </a:cubicBezTo>
                      <a:cubicBezTo>
                        <a:pt x="151569" y="105525"/>
                        <a:pt x="201389" y="76743"/>
                        <a:pt x="221456" y="28575"/>
                      </a:cubicBezTo>
                      <a:moveTo>
                        <a:pt x="228600" y="85725"/>
                      </a:moveTo>
                      <a:lnTo>
                        <a:pt x="228600" y="28575"/>
                      </a:lnTo>
                      <a:lnTo>
                        <a:pt x="171450" y="28575"/>
                      </a:lnTo>
                    </a:path>
                  </a:pathLst>
                </a:custGeom>
                <a:noFill/>
                <a:ln w="28575">
                  <a:solidFill>
                    <a:srgbClr val="38BDF8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610106" y="49491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重复劳动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12011" y="5370671"/>
                <a:ext cx="33693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同样的数据搬运和周报,每周再来一遍。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048500" y="1943100"/>
            <a:ext cx="4381500" cy="3924300"/>
            <a:chOff x="7048500" y="1943100"/>
            <a:chExt cx="4381500" cy="3924300"/>
          </a:xfrm>
        </p:grpSpPr>
        <p:sp>
          <p:nvSpPr>
            <p:cNvPr id="30" name="Rectangle 30"/>
            <p:cNvSpPr/>
            <p:nvPr/>
          </p:nvSpPr>
          <p:spPr>
            <a:xfrm>
              <a:off x="7048500" y="1943100"/>
              <a:ext cx="4381500" cy="3924300"/>
            </a:xfrm>
            <a:prstGeom prst="roundRect">
              <a:avLst>
                <a:gd name="adj" fmla="val 3883"/>
              </a:avLst>
            </a:prstGeom>
            <a:solidFill>
              <a:srgbClr val="101828"/>
            </a:solidFill>
            <a:ln w="9525">
              <a:solidFill>
                <a:srgbClr val="2E44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60742" y="2387918"/>
              <a:ext cx="2253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每周被吃掉的时间(自测)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8550" y="2957512"/>
              <a:ext cx="2603621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0" b="1" dirty="0">
                  <a:gradFill>
                    <a:gsLst>
                      <a:gs pos="0">
                        <a:srgbClr val="8A7CFF"/>
                      </a:gs>
                      <a:gs pos="100000">
                        <a:srgbClr val="38BDF8"/>
                      </a:gs>
                    </a:gsLst>
                    <a:lin ang="0" scaled="1"/>
                  </a:gradFill>
                  <a:effectLst>
                    <a:glow rad="76200">
                      <a:srgbClr val="8A7CFF">
                        <a:alpha val="45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20h+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599" y="4249579"/>
              <a:ext cx="1621282" cy="631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花在信息搬运上,</a:t>
              </a:r>
              <a:br/>
              <a:r>
                <a:rPr lang="zh-CN" sz="15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而不是艺人身上。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67600" y="5048250"/>
              <a:ext cx="3543300" cy="9525"/>
            </a:xfrm>
            <a:prstGeom prst="rect">
              <a:avLst/>
            </a:prstGeom>
            <a:solidFill>
              <a:srgbClr val="263A5E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493794" y="5283994"/>
              <a:ext cx="157163" cy="157163"/>
              <a:chOff x="7493794" y="5283994"/>
              <a:chExt cx="157163" cy="15716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493794" y="528399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7463">
                <a:solidFill>
                  <a:srgbClr val="64789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72375" y="5318919"/>
                <a:ext cx="26194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69850">
                    <a:moveTo>
                      <a:pt x="0" y="0"/>
                    </a:moveTo>
                    <a:lnTo>
                      <a:pt x="0" y="43656"/>
                    </a:lnTo>
                    <a:lnTo>
                      <a:pt x="26194" y="69850"/>
                    </a:lnTo>
                  </a:path>
                </a:pathLst>
              </a:custGeom>
              <a:noFill/>
              <a:ln w="17463">
                <a:solidFill>
                  <a:srgbClr val="64789E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784973" y="52916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≈ 每年 2.5 个月的工作时间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3048000" y="-190500"/>
            <a:ext cx="6096000" cy="6096000"/>
          </a:xfrm>
          <a:prstGeom prst="ellipse">
            <a:avLst/>
          </a:prstGeom>
          <a:gradFill>
            <a:gsLst>
              <a:gs pos="0">
                <a:srgbClr val="38BDF8">
                  <a:alpha val="18000"/>
                </a:srgbClr>
              </a:gs>
              <a:gs pos="100000">
                <a:srgbClr val="38BDF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914400"/>
            <a:ext cx="10668000" cy="5029200"/>
          </a:xfrm>
          <a:custGeom>
            <a:avLst/>
            <a:gdLst/>
            <a:ahLst/>
            <a:cxnLst/>
            <a:rect l="l" t="t" r="r" b="b"/>
            <a:pathLst>
              <a:path w="10668000" h="5029200">
                <a:moveTo>
                  <a:pt x="0" y="0"/>
                </a:moveTo>
                <a:lnTo>
                  <a:pt x="381000" y="0"/>
                </a:lnTo>
                <a:moveTo>
                  <a:pt x="0" y="0"/>
                </a:moveTo>
                <a:lnTo>
                  <a:pt x="0" y="381000"/>
                </a:lnTo>
                <a:moveTo>
                  <a:pt x="10668000" y="0"/>
                </a:moveTo>
                <a:lnTo>
                  <a:pt x="10287000" y="0"/>
                </a:lnTo>
                <a:moveTo>
                  <a:pt x="10668000" y="0"/>
                </a:moveTo>
                <a:lnTo>
                  <a:pt x="10668000" y="381000"/>
                </a:lnTo>
                <a:moveTo>
                  <a:pt x="0" y="5029200"/>
                </a:moveTo>
                <a:lnTo>
                  <a:pt x="381000" y="5029200"/>
                </a:lnTo>
                <a:moveTo>
                  <a:pt x="0" y="5029200"/>
                </a:moveTo>
                <a:lnTo>
                  <a:pt x="0" y="4648200"/>
                </a:lnTo>
                <a:moveTo>
                  <a:pt x="10668000" y="5029200"/>
                </a:moveTo>
                <a:lnTo>
                  <a:pt x="10287000" y="5029200"/>
                </a:lnTo>
                <a:moveTo>
                  <a:pt x="10668000" y="5029200"/>
                </a:moveTo>
                <a:lnTo>
                  <a:pt x="10668000" y="4648200"/>
                </a:lnTo>
              </a:path>
            </a:pathLst>
          </a:custGeom>
          <a:noFill/>
          <a:ln w="19050">
            <a:solidFill>
              <a:srgbClr val="2E4468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77252" y="1554956"/>
            <a:ext cx="2037497" cy="220028"/>
            <a:chOff x="5077252" y="1554956"/>
            <a:chExt cx="2037497" cy="220028"/>
          </a:xfrm>
        </p:grpSpPr>
        <p:sp>
          <p:nvSpPr>
            <p:cNvPr id="4" name="TextBox 4"/>
            <p:cNvSpPr txBox="1"/>
            <p:nvPr/>
          </p:nvSpPr>
          <p:spPr>
            <a:xfrm>
              <a:off x="5077252" y="1554956"/>
              <a:ext cx="2037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300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03 · 方案 THE TURN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73437" y="2257425"/>
            <a:ext cx="5045126" cy="1239964"/>
            <a:chOff x="3573437" y="2257425"/>
            <a:chExt cx="5045126" cy="1239964"/>
          </a:xfrm>
        </p:grpSpPr>
        <p:sp>
          <p:nvSpPr>
            <p:cNvPr id="6" name="TextBox 6"/>
            <p:cNvSpPr txBox="1"/>
            <p:nvPr/>
          </p:nvSpPr>
          <p:spPr>
            <a:xfrm>
              <a:off x="3573437" y="2257425"/>
              <a:ext cx="504512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E9EFFB"/>
                  </a:solidFill>
                  <a:effectLst>
                    <a:glow rad="76200">
                      <a:srgbClr val="8A7CFF">
                        <a:alpha val="4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把 AI 装进工作流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805304" y="3174682"/>
              <a:ext cx="4581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一个懂音乐运营的智能体,替我盯住每一条信号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8750" y="3924300"/>
            <a:ext cx="2857500" cy="1428750"/>
            <a:chOff x="1428750" y="3924300"/>
            <a:chExt cx="2857500" cy="1428750"/>
          </a:xfrm>
        </p:grpSpPr>
        <p:sp>
          <p:nvSpPr>
            <p:cNvPr id="9" name="Rectangle 9"/>
            <p:cNvSpPr/>
            <p:nvPr/>
          </p:nvSpPr>
          <p:spPr>
            <a:xfrm>
              <a:off x="1428750" y="39243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743200" y="4195762"/>
              <a:ext cx="228600" cy="257176"/>
              <a:chOff x="2743200" y="4195762"/>
              <a:chExt cx="228600" cy="2571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743200" y="41957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rgbClr val="38BDF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743200" y="42386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38BDF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743200" y="43243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rgbClr val="38BDF8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2362490" y="4671536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自动收集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75612" y="5024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全渠道信号自动汇入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67250" y="3924300"/>
            <a:ext cx="2857500" cy="1428750"/>
            <a:chOff x="4667250" y="3924300"/>
            <a:chExt cx="2857500" cy="1428750"/>
          </a:xfrm>
        </p:grpSpPr>
        <p:sp>
          <p:nvSpPr>
            <p:cNvPr id="17" name="Rectangle 17"/>
            <p:cNvSpPr/>
            <p:nvPr/>
          </p:nvSpPr>
          <p:spPr>
            <a:xfrm>
              <a:off x="4667250" y="39243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967412" y="421005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28575">
              <a:solidFill>
                <a:srgbClr val="8A7C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00990" y="4671536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智能分诊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14112" y="5024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红黄绿三级轻重缓急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905750" y="3924300"/>
            <a:ext cx="2857500" cy="1428750"/>
            <a:chOff x="7905750" y="3924300"/>
            <a:chExt cx="2857500" cy="1428750"/>
          </a:xfrm>
        </p:grpSpPr>
        <p:sp>
          <p:nvSpPr>
            <p:cNvPr id="22" name="Rectangle 22"/>
            <p:cNvSpPr/>
            <p:nvPr/>
          </p:nvSpPr>
          <p:spPr>
            <a:xfrm>
              <a:off x="7905750" y="392430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201328" y="4195762"/>
              <a:ext cx="261759" cy="261759"/>
              <a:chOff x="9201328" y="4195762"/>
              <a:chExt cx="261759" cy="26175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305925" y="419576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157162"/>
                    </a:moveTo>
                    <a:lnTo>
                      <a:pt x="157162" y="0"/>
                    </a:lnTo>
                  </a:path>
                </a:pathLst>
              </a:custGeom>
              <a:noFill/>
              <a:ln w="28575">
                <a:solidFill>
                  <a:srgbClr val="34D39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201328" y="4195762"/>
                <a:ext cx="261759" cy="261759"/>
              </a:xfrm>
              <a:custGeom>
                <a:avLst/>
                <a:gdLst/>
                <a:ahLst/>
                <a:cxnLst/>
                <a:rect l="l" t="t" r="r" b="b"/>
                <a:pathLst>
                  <a:path w="261759" h="261759">
                    <a:moveTo>
                      <a:pt x="261759" y="0"/>
                    </a:moveTo>
                    <a:lnTo>
                      <a:pt x="168891" y="257175"/>
                    </a:lnTo>
                    <a:cubicBezTo>
                      <a:pt x="167611" y="259968"/>
                      <a:pt x="164820" y="261759"/>
                      <a:pt x="161747" y="261759"/>
                    </a:cubicBezTo>
                    <a:cubicBezTo>
                      <a:pt x="158674" y="261759"/>
                      <a:pt x="155883" y="259968"/>
                      <a:pt x="154603" y="257175"/>
                    </a:cubicBezTo>
                    <a:lnTo>
                      <a:pt x="104597" y="157162"/>
                    </a:lnTo>
                    <a:lnTo>
                      <a:pt x="4584" y="107156"/>
                    </a:lnTo>
                    <a:cubicBezTo>
                      <a:pt x="1791" y="105876"/>
                      <a:pt x="0" y="103085"/>
                      <a:pt x="0" y="100012"/>
                    </a:cubicBezTo>
                    <a:cubicBezTo>
                      <a:pt x="0" y="96940"/>
                      <a:pt x="1791" y="94149"/>
                      <a:pt x="4584" y="92869"/>
                    </a:cubicBezTo>
                    <a:lnTo>
                      <a:pt x="261759" y="0"/>
                    </a:lnTo>
                  </a:path>
                </a:pathLst>
              </a:custGeom>
              <a:noFill/>
              <a:ln w="28575">
                <a:solidFill>
                  <a:srgbClr val="34D399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839490" y="4671536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一键触达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38769" y="50249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结论直接推进飞书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95979" y="5715000"/>
            <a:ext cx="2163518" cy="270034"/>
            <a:chOff x="5295979" y="5715000"/>
            <a:chExt cx="2163518" cy="270034"/>
          </a:xfrm>
        </p:grpSpPr>
        <p:sp>
          <p:nvSpPr>
            <p:cNvPr id="29" name="Freeform 29"/>
            <p:cNvSpPr/>
            <p:nvPr/>
          </p:nvSpPr>
          <p:spPr>
            <a:xfrm>
              <a:off x="5295979" y="5715000"/>
              <a:ext cx="209391" cy="209550"/>
            </a:xfrm>
            <a:custGeom>
              <a:avLst/>
              <a:gdLst/>
              <a:ahLst/>
              <a:cxnLst/>
              <a:rect l="l" t="t" r="r" b="b"/>
              <a:pathLst>
                <a:path w="209391" h="209550">
                  <a:moveTo>
                    <a:pt x="41083" y="139312"/>
                  </a:moveTo>
                  <a:lnTo>
                    <a:pt x="82272" y="116199"/>
                  </a:lnTo>
                  <a:lnTo>
                    <a:pt x="82962" y="114185"/>
                  </a:lnTo>
                  <a:lnTo>
                    <a:pt x="82272" y="113071"/>
                  </a:lnTo>
                  <a:lnTo>
                    <a:pt x="80258" y="113071"/>
                  </a:lnTo>
                  <a:lnTo>
                    <a:pt x="73366" y="112647"/>
                  </a:lnTo>
                  <a:lnTo>
                    <a:pt x="49830" y="112011"/>
                  </a:lnTo>
                  <a:lnTo>
                    <a:pt x="29421" y="111163"/>
                  </a:lnTo>
                  <a:lnTo>
                    <a:pt x="9648" y="110103"/>
                  </a:lnTo>
                  <a:lnTo>
                    <a:pt x="4665" y="109042"/>
                  </a:lnTo>
                  <a:lnTo>
                    <a:pt x="0" y="102893"/>
                  </a:lnTo>
                  <a:lnTo>
                    <a:pt x="477" y="99818"/>
                  </a:lnTo>
                  <a:lnTo>
                    <a:pt x="4665" y="97009"/>
                  </a:lnTo>
                  <a:lnTo>
                    <a:pt x="10655" y="97539"/>
                  </a:lnTo>
                  <a:lnTo>
                    <a:pt x="23908" y="98441"/>
                  </a:lnTo>
                  <a:lnTo>
                    <a:pt x="43786" y="99818"/>
                  </a:lnTo>
                  <a:lnTo>
                    <a:pt x="58205" y="100667"/>
                  </a:lnTo>
                  <a:lnTo>
                    <a:pt x="79569" y="102893"/>
                  </a:lnTo>
                  <a:lnTo>
                    <a:pt x="82962" y="102893"/>
                  </a:lnTo>
                  <a:lnTo>
                    <a:pt x="83438" y="101515"/>
                  </a:lnTo>
                  <a:lnTo>
                    <a:pt x="82272" y="100667"/>
                  </a:lnTo>
                  <a:lnTo>
                    <a:pt x="81371" y="99818"/>
                  </a:lnTo>
                  <a:lnTo>
                    <a:pt x="60804" y="85877"/>
                  </a:lnTo>
                  <a:lnTo>
                    <a:pt x="38539" y="71140"/>
                  </a:lnTo>
                  <a:lnTo>
                    <a:pt x="26877" y="62658"/>
                  </a:lnTo>
                  <a:lnTo>
                    <a:pt x="20569" y="58364"/>
                  </a:lnTo>
                  <a:lnTo>
                    <a:pt x="17388" y="54335"/>
                  </a:lnTo>
                  <a:lnTo>
                    <a:pt x="16010" y="45536"/>
                  </a:lnTo>
                  <a:lnTo>
                    <a:pt x="21736" y="39228"/>
                  </a:lnTo>
                  <a:lnTo>
                    <a:pt x="29422" y="39758"/>
                  </a:lnTo>
                  <a:lnTo>
                    <a:pt x="31383" y="40288"/>
                  </a:lnTo>
                  <a:lnTo>
                    <a:pt x="39175" y="46277"/>
                  </a:lnTo>
                  <a:lnTo>
                    <a:pt x="55821" y="59159"/>
                  </a:lnTo>
                  <a:lnTo>
                    <a:pt x="77555" y="75169"/>
                  </a:lnTo>
                  <a:lnTo>
                    <a:pt x="80736" y="77819"/>
                  </a:lnTo>
                  <a:lnTo>
                    <a:pt x="82008" y="76918"/>
                  </a:lnTo>
                  <a:lnTo>
                    <a:pt x="82167" y="76282"/>
                  </a:lnTo>
                  <a:lnTo>
                    <a:pt x="80735" y="73896"/>
                  </a:lnTo>
                  <a:lnTo>
                    <a:pt x="68914" y="52533"/>
                  </a:lnTo>
                  <a:lnTo>
                    <a:pt x="56297" y="30799"/>
                  </a:lnTo>
                  <a:lnTo>
                    <a:pt x="50679" y="21788"/>
                  </a:lnTo>
                  <a:lnTo>
                    <a:pt x="49194" y="16380"/>
                  </a:lnTo>
                  <a:cubicBezTo>
                    <a:pt x="48665" y="14153"/>
                    <a:pt x="48293" y="12299"/>
                    <a:pt x="48293" y="10019"/>
                  </a:cubicBezTo>
                  <a:lnTo>
                    <a:pt x="54814" y="1166"/>
                  </a:lnTo>
                  <a:lnTo>
                    <a:pt x="58417" y="0"/>
                  </a:lnTo>
                  <a:lnTo>
                    <a:pt x="67111" y="1166"/>
                  </a:lnTo>
                  <a:lnTo>
                    <a:pt x="70769" y="4346"/>
                  </a:lnTo>
                  <a:lnTo>
                    <a:pt x="76176" y="16699"/>
                  </a:lnTo>
                  <a:lnTo>
                    <a:pt x="84923" y="36154"/>
                  </a:lnTo>
                  <a:lnTo>
                    <a:pt x="98494" y="62606"/>
                  </a:lnTo>
                  <a:lnTo>
                    <a:pt x="102469" y="70451"/>
                  </a:lnTo>
                  <a:lnTo>
                    <a:pt x="104590" y="77713"/>
                  </a:lnTo>
                  <a:lnTo>
                    <a:pt x="105384" y="79940"/>
                  </a:lnTo>
                  <a:lnTo>
                    <a:pt x="106763" y="79940"/>
                  </a:lnTo>
                  <a:lnTo>
                    <a:pt x="106763" y="78668"/>
                  </a:lnTo>
                  <a:lnTo>
                    <a:pt x="107876" y="63772"/>
                  </a:lnTo>
                  <a:lnTo>
                    <a:pt x="109944" y="45483"/>
                  </a:lnTo>
                  <a:lnTo>
                    <a:pt x="111958" y="21946"/>
                  </a:lnTo>
                  <a:lnTo>
                    <a:pt x="112647" y="15320"/>
                  </a:lnTo>
                  <a:lnTo>
                    <a:pt x="115934" y="7368"/>
                  </a:lnTo>
                  <a:lnTo>
                    <a:pt x="122454" y="3074"/>
                  </a:lnTo>
                  <a:lnTo>
                    <a:pt x="127543" y="5513"/>
                  </a:lnTo>
                  <a:lnTo>
                    <a:pt x="131731" y="11503"/>
                  </a:lnTo>
                  <a:lnTo>
                    <a:pt x="131148" y="15373"/>
                  </a:lnTo>
                  <a:lnTo>
                    <a:pt x="128657" y="31541"/>
                  </a:lnTo>
                  <a:lnTo>
                    <a:pt x="123779" y="56880"/>
                  </a:lnTo>
                  <a:lnTo>
                    <a:pt x="120599" y="73844"/>
                  </a:lnTo>
                  <a:lnTo>
                    <a:pt x="122454" y="73844"/>
                  </a:lnTo>
                  <a:lnTo>
                    <a:pt x="124575" y="71723"/>
                  </a:lnTo>
                  <a:lnTo>
                    <a:pt x="133162" y="60326"/>
                  </a:lnTo>
                  <a:lnTo>
                    <a:pt x="147581" y="42302"/>
                  </a:lnTo>
                  <a:lnTo>
                    <a:pt x="153942" y="35146"/>
                  </a:lnTo>
                  <a:lnTo>
                    <a:pt x="161364" y="27248"/>
                  </a:lnTo>
                  <a:lnTo>
                    <a:pt x="166135" y="23484"/>
                  </a:lnTo>
                  <a:lnTo>
                    <a:pt x="175146" y="23484"/>
                  </a:lnTo>
                  <a:lnTo>
                    <a:pt x="181773" y="33344"/>
                  </a:lnTo>
                  <a:lnTo>
                    <a:pt x="178805" y="43522"/>
                  </a:lnTo>
                  <a:lnTo>
                    <a:pt x="169528" y="55290"/>
                  </a:lnTo>
                  <a:lnTo>
                    <a:pt x="161841" y="65256"/>
                  </a:lnTo>
                  <a:lnTo>
                    <a:pt x="150815" y="80099"/>
                  </a:lnTo>
                  <a:lnTo>
                    <a:pt x="143923" y="91973"/>
                  </a:lnTo>
                  <a:lnTo>
                    <a:pt x="144560" y="92928"/>
                  </a:lnTo>
                  <a:lnTo>
                    <a:pt x="146203" y="92768"/>
                  </a:lnTo>
                  <a:lnTo>
                    <a:pt x="171118" y="87468"/>
                  </a:lnTo>
                  <a:lnTo>
                    <a:pt x="184582" y="85028"/>
                  </a:lnTo>
                  <a:lnTo>
                    <a:pt x="200644" y="82272"/>
                  </a:lnTo>
                  <a:lnTo>
                    <a:pt x="207907" y="85665"/>
                  </a:lnTo>
                  <a:lnTo>
                    <a:pt x="208701" y="89110"/>
                  </a:lnTo>
                  <a:lnTo>
                    <a:pt x="205839" y="96161"/>
                  </a:lnTo>
                  <a:lnTo>
                    <a:pt x="188665" y="100402"/>
                  </a:lnTo>
                  <a:lnTo>
                    <a:pt x="168520" y="104430"/>
                  </a:lnTo>
                  <a:lnTo>
                    <a:pt x="138516" y="111534"/>
                  </a:lnTo>
                  <a:lnTo>
                    <a:pt x="138145" y="111799"/>
                  </a:lnTo>
                  <a:lnTo>
                    <a:pt x="138569" y="112329"/>
                  </a:lnTo>
                  <a:lnTo>
                    <a:pt x="152087" y="113601"/>
                  </a:lnTo>
                  <a:lnTo>
                    <a:pt x="157865" y="113919"/>
                  </a:lnTo>
                  <a:lnTo>
                    <a:pt x="172019" y="113919"/>
                  </a:lnTo>
                  <a:lnTo>
                    <a:pt x="198365" y="115881"/>
                  </a:lnTo>
                  <a:lnTo>
                    <a:pt x="205256" y="120439"/>
                  </a:lnTo>
                  <a:lnTo>
                    <a:pt x="209391" y="126006"/>
                  </a:lnTo>
                  <a:lnTo>
                    <a:pt x="208701" y="130247"/>
                  </a:lnTo>
                  <a:lnTo>
                    <a:pt x="198100" y="135654"/>
                  </a:lnTo>
                  <a:lnTo>
                    <a:pt x="183787" y="132261"/>
                  </a:lnTo>
                  <a:lnTo>
                    <a:pt x="150390" y="124309"/>
                  </a:lnTo>
                  <a:lnTo>
                    <a:pt x="138940" y="121446"/>
                  </a:lnTo>
                  <a:lnTo>
                    <a:pt x="137350" y="121446"/>
                  </a:lnTo>
                  <a:lnTo>
                    <a:pt x="137350" y="122401"/>
                  </a:lnTo>
                  <a:lnTo>
                    <a:pt x="146892" y="131731"/>
                  </a:lnTo>
                  <a:lnTo>
                    <a:pt x="164385" y="147528"/>
                  </a:lnTo>
                  <a:lnTo>
                    <a:pt x="186279" y="167884"/>
                  </a:lnTo>
                  <a:lnTo>
                    <a:pt x="187392" y="172920"/>
                  </a:lnTo>
                  <a:lnTo>
                    <a:pt x="184582" y="176896"/>
                  </a:lnTo>
                  <a:lnTo>
                    <a:pt x="181614" y="176472"/>
                  </a:lnTo>
                  <a:lnTo>
                    <a:pt x="162371" y="162000"/>
                  </a:lnTo>
                  <a:lnTo>
                    <a:pt x="154949" y="155479"/>
                  </a:lnTo>
                  <a:lnTo>
                    <a:pt x="138145" y="141326"/>
                  </a:lnTo>
                  <a:lnTo>
                    <a:pt x="137032" y="141326"/>
                  </a:lnTo>
                  <a:lnTo>
                    <a:pt x="137032" y="142810"/>
                  </a:lnTo>
                  <a:lnTo>
                    <a:pt x="140901" y="148482"/>
                  </a:lnTo>
                  <a:lnTo>
                    <a:pt x="161364" y="179228"/>
                  </a:lnTo>
                  <a:lnTo>
                    <a:pt x="162424" y="188664"/>
                  </a:lnTo>
                  <a:lnTo>
                    <a:pt x="160940" y="191738"/>
                  </a:lnTo>
                  <a:lnTo>
                    <a:pt x="155639" y="193594"/>
                  </a:lnTo>
                  <a:lnTo>
                    <a:pt x="149807" y="192534"/>
                  </a:lnTo>
                  <a:lnTo>
                    <a:pt x="137827" y="175730"/>
                  </a:lnTo>
                  <a:lnTo>
                    <a:pt x="125476" y="156805"/>
                  </a:lnTo>
                  <a:lnTo>
                    <a:pt x="115510" y="139841"/>
                  </a:lnTo>
                  <a:lnTo>
                    <a:pt x="114290" y="140531"/>
                  </a:lnTo>
                  <a:lnTo>
                    <a:pt x="108405" y="203878"/>
                  </a:lnTo>
                  <a:lnTo>
                    <a:pt x="105650" y="207111"/>
                  </a:lnTo>
                  <a:lnTo>
                    <a:pt x="99288" y="209550"/>
                  </a:lnTo>
                  <a:lnTo>
                    <a:pt x="93988" y="205521"/>
                  </a:lnTo>
                  <a:lnTo>
                    <a:pt x="91178" y="199001"/>
                  </a:lnTo>
                  <a:lnTo>
                    <a:pt x="93988" y="186120"/>
                  </a:lnTo>
                  <a:lnTo>
                    <a:pt x="97381" y="169316"/>
                  </a:lnTo>
                  <a:lnTo>
                    <a:pt x="100137" y="155957"/>
                  </a:lnTo>
                  <a:lnTo>
                    <a:pt x="102628" y="139364"/>
                  </a:lnTo>
                  <a:lnTo>
                    <a:pt x="104112" y="133851"/>
                  </a:lnTo>
                  <a:lnTo>
                    <a:pt x="104007" y="133480"/>
                  </a:lnTo>
                  <a:lnTo>
                    <a:pt x="102787" y="133639"/>
                  </a:lnTo>
                  <a:lnTo>
                    <a:pt x="90277" y="150815"/>
                  </a:lnTo>
                  <a:lnTo>
                    <a:pt x="71246" y="176525"/>
                  </a:lnTo>
                  <a:lnTo>
                    <a:pt x="56191" y="192639"/>
                  </a:lnTo>
                  <a:lnTo>
                    <a:pt x="52587" y="194071"/>
                  </a:lnTo>
                  <a:lnTo>
                    <a:pt x="46332" y="190837"/>
                  </a:lnTo>
                  <a:lnTo>
                    <a:pt x="46914" y="185059"/>
                  </a:lnTo>
                  <a:lnTo>
                    <a:pt x="50413" y="179917"/>
                  </a:lnTo>
                  <a:lnTo>
                    <a:pt x="71246" y="153412"/>
                  </a:lnTo>
                  <a:lnTo>
                    <a:pt x="83810" y="136979"/>
                  </a:lnTo>
                  <a:lnTo>
                    <a:pt x="91921" y="127490"/>
                  </a:lnTo>
                  <a:lnTo>
                    <a:pt x="91867" y="126112"/>
                  </a:lnTo>
                  <a:lnTo>
                    <a:pt x="91390" y="126112"/>
                  </a:lnTo>
                  <a:lnTo>
                    <a:pt x="36047" y="162053"/>
                  </a:lnTo>
                  <a:lnTo>
                    <a:pt x="26187" y="163325"/>
                  </a:lnTo>
                  <a:lnTo>
                    <a:pt x="21946" y="159349"/>
                  </a:lnTo>
                  <a:lnTo>
                    <a:pt x="22477" y="152829"/>
                  </a:lnTo>
                  <a:lnTo>
                    <a:pt x="24491" y="150708"/>
                  </a:lnTo>
                  <a:lnTo>
                    <a:pt x="41136" y="139258"/>
                  </a:ln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33085" y="5765006"/>
              <a:ext cx="18264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POWERED BY CLAUDE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5161521" cy="948690"/>
            <a:chOff x="746760" y="647700"/>
            <a:chExt cx="5161521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667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04 · 架构 SYSTEM PIPELINE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516152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三层流水线:信号进,洞察出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6666" y="1905952"/>
            <a:ext cx="10678668" cy="205359"/>
            <a:chOff x="756666" y="1905952"/>
            <a:chExt cx="106786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756666" y="1905952"/>
              <a:ext cx="1320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输入 · SOURCES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20995" y="1905952"/>
              <a:ext cx="1150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spc="15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分析 · ENGINE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14636" y="1905952"/>
              <a:ext cx="1320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15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输出 · OUTPUTS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2286000"/>
            <a:ext cx="2857500" cy="1047750"/>
            <a:chOff x="762000" y="2286000"/>
            <a:chExt cx="2857500" cy="1047750"/>
          </a:xfrm>
        </p:grpSpPr>
        <p:sp>
          <p:nvSpPr>
            <p:cNvPr id="13" name="Rectangle 13"/>
            <p:cNvSpPr/>
            <p:nvPr/>
          </p:nvSpPr>
          <p:spPr>
            <a:xfrm>
              <a:off x="762000" y="22860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15695" y="2536507"/>
              <a:ext cx="253542" cy="224751"/>
            </a:xfrm>
            <a:custGeom>
              <a:avLst/>
              <a:gdLst/>
              <a:ahLst/>
              <a:cxnLst/>
              <a:rect l="l" t="t" r="r" b="b"/>
              <a:pathLst>
                <a:path w="253542" h="224751">
                  <a:moveTo>
                    <a:pt x="13005" y="213042"/>
                  </a:moveTo>
                  <a:lnTo>
                    <a:pt x="29515" y="163512"/>
                  </a:lnTo>
                  <a:cubicBezTo>
                    <a:pt x="0" y="119862"/>
                    <a:pt x="11405" y="63538"/>
                    <a:pt x="56185" y="31763"/>
                  </a:cubicBezTo>
                  <a:cubicBezTo>
                    <a:pt x="100965" y="0"/>
                    <a:pt x="165277" y="2603"/>
                    <a:pt x="206616" y="37859"/>
                  </a:cubicBezTo>
                  <a:cubicBezTo>
                    <a:pt x="247954" y="73126"/>
                    <a:pt x="253542" y="130137"/>
                    <a:pt x="219684" y="171221"/>
                  </a:cubicBezTo>
                  <a:cubicBezTo>
                    <a:pt x="185826" y="212305"/>
                    <a:pt x="122974" y="224751"/>
                    <a:pt x="72695" y="200342"/>
                  </a:cubicBezTo>
                  <a:lnTo>
                    <a:pt x="13005" y="213042"/>
                  </a:lnTo>
                </a:path>
              </a:pathLst>
            </a:custGeom>
            <a:noFill/>
            <a:ln w="25400">
              <a:solidFill>
                <a:srgbClr val="38BDF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39418" y="2546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飞书群聊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504" y="2994660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消息 · 决策请求 · @我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3619500"/>
            <a:ext cx="2857500" cy="1047750"/>
            <a:chOff x="762000" y="3619500"/>
            <a:chExt cx="2857500" cy="1047750"/>
          </a:xfrm>
        </p:grpSpPr>
        <p:sp>
          <p:nvSpPr>
            <p:cNvPr id="18" name="Rectangle 18"/>
            <p:cNvSpPr/>
            <p:nvPr/>
          </p:nvSpPr>
          <p:spPr>
            <a:xfrm>
              <a:off x="762000" y="36195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041400" y="3867150"/>
              <a:ext cx="203199" cy="228600"/>
              <a:chOff x="1041400" y="3867150"/>
              <a:chExt cx="203199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41400" y="386715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41400" y="39052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41400" y="39814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439418" y="3879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平台后台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4504" y="432816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播放 · 涨粉 · 收入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953000"/>
            <a:ext cx="2857500" cy="1047750"/>
            <a:chOff x="762000" y="4953000"/>
            <a:chExt cx="2857500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49530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41400" y="5200650"/>
              <a:ext cx="203199" cy="228599"/>
              <a:chOff x="1041400" y="5200650"/>
              <a:chExt cx="203199" cy="2285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41400" y="52260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77800" y="0"/>
                    </a:lnTo>
                    <a:cubicBezTo>
                      <a:pt x="191828" y="0"/>
                      <a:pt x="203199" y="11372"/>
                      <a:pt x="203199" y="25400"/>
                    </a:cubicBezTo>
                    <a:lnTo>
                      <a:pt x="203199" y="177800"/>
                    </a:lnTo>
                    <a:cubicBezTo>
                      <a:pt x="203199" y="191828"/>
                      <a:pt x="191828" y="203199"/>
                      <a:pt x="177800" y="203199"/>
                    </a:cubicBez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3799" y="52006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92200" y="52006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41400" y="5302250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92200" y="53530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lnTo>
                      <a:pt x="25400" y="0"/>
                    </a:lnTo>
                    <a:lnTo>
                      <a:pt x="25400" y="25400"/>
                    </a:lnTo>
                    <a:lnTo>
                      <a:pt x="0" y="25400"/>
                    </a:ln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38BDF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439418" y="5213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发行日历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4504" y="5661660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节点 · 截止日 · 里程碑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695700" y="2809875"/>
            <a:ext cx="895350" cy="2667000"/>
            <a:chOff x="3695700" y="2809875"/>
            <a:chExt cx="895350" cy="2667000"/>
          </a:xfrm>
        </p:grpSpPr>
        <p:sp>
          <p:nvSpPr>
            <p:cNvPr id="36" name="Line 36"/>
            <p:cNvSpPr/>
            <p:nvPr/>
          </p:nvSpPr>
          <p:spPr>
            <a:xfrm>
              <a:off x="3695700" y="2809875"/>
              <a:ext cx="895350" cy="476250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>
              <a:off x="3695700" y="4143375"/>
              <a:ext cx="895350" cy="1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flipV="1">
              <a:off x="3695700" y="5000625"/>
              <a:ext cx="895350" cy="476250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667250" y="2381250"/>
            <a:ext cx="2857500" cy="3619500"/>
            <a:chOff x="4667250" y="2381250"/>
            <a:chExt cx="2857500" cy="3619500"/>
          </a:xfrm>
        </p:grpSpPr>
        <p:sp>
          <p:nvSpPr>
            <p:cNvPr id="40" name="Rectangle 40"/>
            <p:cNvSpPr/>
            <p:nvPr/>
          </p:nvSpPr>
          <p:spPr>
            <a:xfrm>
              <a:off x="4667250" y="2381250"/>
              <a:ext cx="2857500" cy="3619500"/>
            </a:xfrm>
            <a:prstGeom prst="roundRect">
              <a:avLst>
                <a:gd name="adj" fmla="val 5333"/>
              </a:avLst>
            </a:prstGeom>
            <a:solidFill>
              <a:srgbClr val="101828"/>
            </a:solidFill>
            <a:ln w="14288">
              <a:solidFill>
                <a:srgbClr val="8A7CFF"/>
              </a:solidFill>
            </a:ln>
            <a:effectLst>
              <a:glow rad="85725">
                <a:srgbClr val="8A7CFF">
                  <a:alpha val="35000"/>
                </a:srgbClr>
              </a:glow>
            </a:effectLst>
          </p:spPr>
        </p:sp>
        <p:sp>
          <p:nvSpPr>
            <p:cNvPr id="41" name="Freeform 41"/>
            <p:cNvSpPr/>
            <p:nvPr/>
          </p:nvSpPr>
          <p:spPr>
            <a:xfrm>
              <a:off x="5886609" y="2686050"/>
              <a:ext cx="418781" cy="419099"/>
            </a:xfrm>
            <a:custGeom>
              <a:avLst/>
              <a:gdLst/>
              <a:ahLst/>
              <a:cxnLst/>
              <a:rect l="l" t="t" r="r" b="b"/>
              <a:pathLst>
                <a:path w="418781" h="419099">
                  <a:moveTo>
                    <a:pt x="82166" y="278622"/>
                  </a:moveTo>
                  <a:lnTo>
                    <a:pt x="164544" y="232398"/>
                  </a:lnTo>
                  <a:lnTo>
                    <a:pt x="165923" y="228369"/>
                  </a:lnTo>
                  <a:lnTo>
                    <a:pt x="164544" y="226142"/>
                  </a:lnTo>
                  <a:lnTo>
                    <a:pt x="160515" y="226142"/>
                  </a:lnTo>
                  <a:lnTo>
                    <a:pt x="146732" y="225294"/>
                  </a:lnTo>
                  <a:lnTo>
                    <a:pt x="99660" y="224021"/>
                  </a:lnTo>
                  <a:lnTo>
                    <a:pt x="58842" y="222325"/>
                  </a:lnTo>
                  <a:lnTo>
                    <a:pt x="19296" y="220205"/>
                  </a:lnTo>
                  <a:lnTo>
                    <a:pt x="9330" y="218084"/>
                  </a:lnTo>
                  <a:lnTo>
                    <a:pt x="0" y="205786"/>
                  </a:lnTo>
                  <a:lnTo>
                    <a:pt x="953" y="199636"/>
                  </a:lnTo>
                  <a:lnTo>
                    <a:pt x="9330" y="194017"/>
                  </a:lnTo>
                  <a:lnTo>
                    <a:pt x="21309" y="195078"/>
                  </a:lnTo>
                  <a:lnTo>
                    <a:pt x="47816" y="196881"/>
                  </a:lnTo>
                  <a:lnTo>
                    <a:pt x="87573" y="199636"/>
                  </a:lnTo>
                  <a:lnTo>
                    <a:pt x="116410" y="201334"/>
                  </a:lnTo>
                  <a:lnTo>
                    <a:pt x="159137" y="205786"/>
                  </a:lnTo>
                  <a:lnTo>
                    <a:pt x="165923" y="205786"/>
                  </a:lnTo>
                  <a:lnTo>
                    <a:pt x="166877" y="203029"/>
                  </a:lnTo>
                  <a:lnTo>
                    <a:pt x="164544" y="201334"/>
                  </a:lnTo>
                  <a:lnTo>
                    <a:pt x="162741" y="199636"/>
                  </a:lnTo>
                  <a:lnTo>
                    <a:pt x="121607" y="171754"/>
                  </a:lnTo>
                  <a:lnTo>
                    <a:pt x="77078" y="142279"/>
                  </a:lnTo>
                  <a:lnTo>
                    <a:pt x="53755" y="125316"/>
                  </a:lnTo>
                  <a:lnTo>
                    <a:pt x="41138" y="116728"/>
                  </a:lnTo>
                  <a:lnTo>
                    <a:pt x="34777" y="108671"/>
                  </a:lnTo>
                  <a:lnTo>
                    <a:pt x="32021" y="91072"/>
                  </a:lnTo>
                  <a:lnTo>
                    <a:pt x="43471" y="78455"/>
                  </a:lnTo>
                  <a:lnTo>
                    <a:pt x="58843" y="79515"/>
                  </a:lnTo>
                  <a:lnTo>
                    <a:pt x="62765" y="80575"/>
                  </a:lnTo>
                  <a:lnTo>
                    <a:pt x="78351" y="92555"/>
                  </a:lnTo>
                  <a:lnTo>
                    <a:pt x="111641" y="118319"/>
                  </a:lnTo>
                  <a:lnTo>
                    <a:pt x="155110" y="150338"/>
                  </a:lnTo>
                  <a:lnTo>
                    <a:pt x="161472" y="155638"/>
                  </a:lnTo>
                  <a:lnTo>
                    <a:pt x="164016" y="153836"/>
                  </a:lnTo>
                  <a:lnTo>
                    <a:pt x="164334" y="152564"/>
                  </a:lnTo>
                  <a:lnTo>
                    <a:pt x="161470" y="147792"/>
                  </a:lnTo>
                  <a:lnTo>
                    <a:pt x="137828" y="105066"/>
                  </a:lnTo>
                  <a:lnTo>
                    <a:pt x="112595" y="61597"/>
                  </a:lnTo>
                  <a:lnTo>
                    <a:pt x="101357" y="43576"/>
                  </a:lnTo>
                  <a:lnTo>
                    <a:pt x="98389" y="32760"/>
                  </a:lnTo>
                  <a:cubicBezTo>
                    <a:pt x="97329" y="28307"/>
                    <a:pt x="96587" y="24598"/>
                    <a:pt x="96587" y="20038"/>
                  </a:cubicBezTo>
                  <a:lnTo>
                    <a:pt x="109628" y="2331"/>
                  </a:lnTo>
                  <a:lnTo>
                    <a:pt x="116834" y="0"/>
                  </a:lnTo>
                  <a:lnTo>
                    <a:pt x="134222" y="2333"/>
                  </a:lnTo>
                  <a:lnTo>
                    <a:pt x="141539" y="8693"/>
                  </a:lnTo>
                  <a:lnTo>
                    <a:pt x="152351" y="33397"/>
                  </a:lnTo>
                  <a:lnTo>
                    <a:pt x="169845" y="72307"/>
                  </a:lnTo>
                  <a:lnTo>
                    <a:pt x="196987" y="125211"/>
                  </a:lnTo>
                  <a:lnTo>
                    <a:pt x="204938" y="140901"/>
                  </a:lnTo>
                  <a:lnTo>
                    <a:pt x="209179" y="155426"/>
                  </a:lnTo>
                  <a:lnTo>
                    <a:pt x="210768" y="159879"/>
                  </a:lnTo>
                  <a:lnTo>
                    <a:pt x="213526" y="159879"/>
                  </a:lnTo>
                  <a:lnTo>
                    <a:pt x="213526" y="157335"/>
                  </a:lnTo>
                  <a:lnTo>
                    <a:pt x="215752" y="127544"/>
                  </a:lnTo>
                  <a:lnTo>
                    <a:pt x="219887" y="90965"/>
                  </a:lnTo>
                  <a:lnTo>
                    <a:pt x="223916" y="43892"/>
                  </a:lnTo>
                  <a:lnTo>
                    <a:pt x="225294" y="30640"/>
                  </a:lnTo>
                  <a:lnTo>
                    <a:pt x="231867" y="14737"/>
                  </a:lnTo>
                  <a:lnTo>
                    <a:pt x="244908" y="6149"/>
                  </a:lnTo>
                  <a:lnTo>
                    <a:pt x="255085" y="11026"/>
                  </a:lnTo>
                  <a:lnTo>
                    <a:pt x="263461" y="23005"/>
                  </a:lnTo>
                  <a:lnTo>
                    <a:pt x="262295" y="30746"/>
                  </a:lnTo>
                  <a:lnTo>
                    <a:pt x="257313" y="63081"/>
                  </a:lnTo>
                  <a:lnTo>
                    <a:pt x="247558" y="113759"/>
                  </a:lnTo>
                  <a:lnTo>
                    <a:pt x="241197" y="147687"/>
                  </a:lnTo>
                  <a:lnTo>
                    <a:pt x="244908" y="147687"/>
                  </a:lnTo>
                  <a:lnTo>
                    <a:pt x="249149" y="143445"/>
                  </a:lnTo>
                  <a:lnTo>
                    <a:pt x="266324" y="120652"/>
                  </a:lnTo>
                  <a:lnTo>
                    <a:pt x="295161" y="84604"/>
                  </a:lnTo>
                  <a:lnTo>
                    <a:pt x="307884" y="70292"/>
                  </a:lnTo>
                  <a:lnTo>
                    <a:pt x="322727" y="54495"/>
                  </a:lnTo>
                  <a:lnTo>
                    <a:pt x="332269" y="46967"/>
                  </a:lnTo>
                  <a:lnTo>
                    <a:pt x="350292" y="46967"/>
                  </a:lnTo>
                  <a:lnTo>
                    <a:pt x="363546" y="66687"/>
                  </a:lnTo>
                  <a:lnTo>
                    <a:pt x="357609" y="87043"/>
                  </a:lnTo>
                  <a:lnTo>
                    <a:pt x="339055" y="110579"/>
                  </a:lnTo>
                  <a:lnTo>
                    <a:pt x="323681" y="130511"/>
                  </a:lnTo>
                  <a:lnTo>
                    <a:pt x="301629" y="160197"/>
                  </a:lnTo>
                  <a:lnTo>
                    <a:pt x="287846" y="183946"/>
                  </a:lnTo>
                  <a:lnTo>
                    <a:pt x="289119" y="185855"/>
                  </a:lnTo>
                  <a:lnTo>
                    <a:pt x="292406" y="185535"/>
                  </a:lnTo>
                  <a:lnTo>
                    <a:pt x="342235" y="174936"/>
                  </a:lnTo>
                  <a:lnTo>
                    <a:pt x="369164" y="170057"/>
                  </a:lnTo>
                  <a:lnTo>
                    <a:pt x="401288" y="164544"/>
                  </a:lnTo>
                  <a:lnTo>
                    <a:pt x="415813" y="171330"/>
                  </a:lnTo>
                  <a:lnTo>
                    <a:pt x="417402" y="178220"/>
                  </a:lnTo>
                  <a:lnTo>
                    <a:pt x="411678" y="192321"/>
                  </a:lnTo>
                  <a:lnTo>
                    <a:pt x="377329" y="200803"/>
                  </a:lnTo>
                  <a:lnTo>
                    <a:pt x="337040" y="208860"/>
                  </a:lnTo>
                  <a:lnTo>
                    <a:pt x="277032" y="223067"/>
                  </a:lnTo>
                  <a:lnTo>
                    <a:pt x="276289" y="223598"/>
                  </a:lnTo>
                  <a:lnTo>
                    <a:pt x="277138" y="224658"/>
                  </a:lnTo>
                  <a:lnTo>
                    <a:pt x="304173" y="227202"/>
                  </a:lnTo>
                  <a:lnTo>
                    <a:pt x="315730" y="227838"/>
                  </a:lnTo>
                  <a:lnTo>
                    <a:pt x="344037" y="227838"/>
                  </a:lnTo>
                  <a:lnTo>
                    <a:pt x="396730" y="231762"/>
                  </a:lnTo>
                  <a:lnTo>
                    <a:pt x="410511" y="240877"/>
                  </a:lnTo>
                  <a:lnTo>
                    <a:pt x="418781" y="252011"/>
                  </a:lnTo>
                  <a:lnTo>
                    <a:pt x="417402" y="260493"/>
                  </a:lnTo>
                  <a:lnTo>
                    <a:pt x="396199" y="271307"/>
                  </a:lnTo>
                  <a:lnTo>
                    <a:pt x="367573" y="264521"/>
                  </a:lnTo>
                  <a:lnTo>
                    <a:pt x="300779" y="248618"/>
                  </a:lnTo>
                  <a:lnTo>
                    <a:pt x="277880" y="242892"/>
                  </a:lnTo>
                  <a:lnTo>
                    <a:pt x="274699" y="242892"/>
                  </a:lnTo>
                  <a:lnTo>
                    <a:pt x="274699" y="244801"/>
                  </a:lnTo>
                  <a:lnTo>
                    <a:pt x="293783" y="263461"/>
                  </a:lnTo>
                  <a:lnTo>
                    <a:pt x="328769" y="295055"/>
                  </a:lnTo>
                  <a:lnTo>
                    <a:pt x="372557" y="335767"/>
                  </a:lnTo>
                  <a:lnTo>
                    <a:pt x="374783" y="345839"/>
                  </a:lnTo>
                  <a:lnTo>
                    <a:pt x="369164" y="353791"/>
                  </a:lnTo>
                  <a:lnTo>
                    <a:pt x="363226" y="352943"/>
                  </a:lnTo>
                  <a:lnTo>
                    <a:pt x="324741" y="323999"/>
                  </a:lnTo>
                  <a:lnTo>
                    <a:pt x="309898" y="310958"/>
                  </a:lnTo>
                  <a:lnTo>
                    <a:pt x="276289" y="282651"/>
                  </a:lnTo>
                  <a:lnTo>
                    <a:pt x="274063" y="282651"/>
                  </a:lnTo>
                  <a:lnTo>
                    <a:pt x="274063" y="285620"/>
                  </a:lnTo>
                  <a:lnTo>
                    <a:pt x="281802" y="296963"/>
                  </a:lnTo>
                  <a:lnTo>
                    <a:pt x="322727" y="358456"/>
                  </a:lnTo>
                  <a:lnTo>
                    <a:pt x="324847" y="377327"/>
                  </a:lnTo>
                  <a:lnTo>
                    <a:pt x="321879" y="383476"/>
                  </a:lnTo>
                  <a:lnTo>
                    <a:pt x="311277" y="387187"/>
                  </a:lnTo>
                  <a:lnTo>
                    <a:pt x="299614" y="385067"/>
                  </a:lnTo>
                  <a:lnTo>
                    <a:pt x="275654" y="351458"/>
                  </a:lnTo>
                  <a:lnTo>
                    <a:pt x="250951" y="313608"/>
                  </a:lnTo>
                  <a:lnTo>
                    <a:pt x="231020" y="279682"/>
                  </a:lnTo>
                  <a:lnTo>
                    <a:pt x="228580" y="281062"/>
                  </a:lnTo>
                  <a:lnTo>
                    <a:pt x="216811" y="407756"/>
                  </a:lnTo>
                  <a:lnTo>
                    <a:pt x="211299" y="414222"/>
                  </a:lnTo>
                  <a:lnTo>
                    <a:pt x="198576" y="419099"/>
                  </a:lnTo>
                  <a:lnTo>
                    <a:pt x="187975" y="411042"/>
                  </a:lnTo>
                  <a:lnTo>
                    <a:pt x="182355" y="398001"/>
                  </a:lnTo>
                  <a:lnTo>
                    <a:pt x="187975" y="372239"/>
                  </a:lnTo>
                  <a:lnTo>
                    <a:pt x="194761" y="338630"/>
                  </a:lnTo>
                  <a:lnTo>
                    <a:pt x="200274" y="311913"/>
                  </a:lnTo>
                  <a:lnTo>
                    <a:pt x="205256" y="278727"/>
                  </a:lnTo>
                  <a:lnTo>
                    <a:pt x="208224" y="267701"/>
                  </a:lnTo>
                  <a:lnTo>
                    <a:pt x="208013" y="266959"/>
                  </a:lnTo>
                  <a:lnTo>
                    <a:pt x="205573" y="267277"/>
                  </a:lnTo>
                  <a:lnTo>
                    <a:pt x="180553" y="301629"/>
                  </a:lnTo>
                  <a:lnTo>
                    <a:pt x="142492" y="353049"/>
                  </a:lnTo>
                  <a:lnTo>
                    <a:pt x="112381" y="385278"/>
                  </a:lnTo>
                  <a:lnTo>
                    <a:pt x="105173" y="388142"/>
                  </a:lnTo>
                  <a:lnTo>
                    <a:pt x="92663" y="381674"/>
                  </a:lnTo>
                  <a:lnTo>
                    <a:pt x="93828" y="370117"/>
                  </a:lnTo>
                  <a:lnTo>
                    <a:pt x="100827" y="359833"/>
                  </a:lnTo>
                  <a:lnTo>
                    <a:pt x="142492" y="306823"/>
                  </a:lnTo>
                  <a:lnTo>
                    <a:pt x="167619" y="273958"/>
                  </a:lnTo>
                  <a:lnTo>
                    <a:pt x="183841" y="254980"/>
                  </a:lnTo>
                  <a:lnTo>
                    <a:pt x="183733" y="252223"/>
                  </a:lnTo>
                  <a:lnTo>
                    <a:pt x="182780" y="252223"/>
                  </a:lnTo>
                  <a:lnTo>
                    <a:pt x="72094" y="324105"/>
                  </a:lnTo>
                  <a:lnTo>
                    <a:pt x="52373" y="326649"/>
                  </a:lnTo>
                  <a:lnTo>
                    <a:pt x="43892" y="318697"/>
                  </a:lnTo>
                  <a:lnTo>
                    <a:pt x="44954" y="305658"/>
                  </a:lnTo>
                  <a:lnTo>
                    <a:pt x="48982" y="301416"/>
                  </a:lnTo>
                  <a:lnTo>
                    <a:pt x="82273" y="278516"/>
                  </a:ln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63581" y="3294698"/>
              <a:ext cx="20648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Claude 分析引擎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048250" y="3733800"/>
              <a:ext cx="2095500" cy="9525"/>
            </a:xfrm>
            <a:prstGeom prst="rect">
              <a:avLst/>
            </a:prstGeom>
            <a:solidFill>
              <a:srgbClr val="263A5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57695" y="39690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汇总归并 · 语义理解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5267325" y="4416742"/>
              <a:ext cx="2031492" cy="264033"/>
              <a:chOff x="5267325" y="4416742"/>
              <a:chExt cx="2031492" cy="264033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5267325" y="4429125"/>
                <a:ext cx="133350" cy="133350"/>
              </a:xfrm>
              <a:prstGeom prst="ellipse">
                <a:avLst/>
              </a:prstGeom>
              <a:solidFill>
                <a:srgbClr val="F8717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5495925" y="4429125"/>
                <a:ext cx="133350" cy="133350"/>
              </a:xfrm>
              <a:prstGeom prst="ellipse">
                <a:avLst/>
              </a:pr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5724525" y="4429125"/>
                <a:ext cx="133350" cy="133350"/>
              </a:xfrm>
              <a:prstGeom prst="ellipse">
                <a:avLst/>
              </a:prstGeom>
              <a:solidFill>
                <a:srgbClr val="34D399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012942" y="4416742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红黄绿三级分诊</a:t>
                </a:r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5543931" y="4864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生成跟进建议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41468" y="5525452"/>
              <a:ext cx="2109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spc="150" dirty="0">
                  <a:solidFill>
                    <a:srgbClr val="4A5D80"/>
                  </a:solidFill>
                  <a:latin typeface="Microsoft YaHei"/>
                  <a:ea typeface="Microsoft YaHei"/>
                  <a:cs typeface="Microsoft YaHei"/>
                </a:rPr>
                <a:t>ONE CALL · ALL SIGNALS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00950" y="2809875"/>
            <a:ext cx="895350" cy="2667000"/>
            <a:chOff x="7600950" y="2809875"/>
            <a:chExt cx="895350" cy="2667000"/>
          </a:xfrm>
        </p:grpSpPr>
        <p:sp>
          <p:nvSpPr>
            <p:cNvPr id="53" name="Line 53"/>
            <p:cNvSpPr/>
            <p:nvPr/>
          </p:nvSpPr>
          <p:spPr>
            <a:xfrm flipV="1">
              <a:off x="7600950" y="2809875"/>
              <a:ext cx="895350" cy="476250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7600950" y="4143375"/>
              <a:ext cx="895350" cy="1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  <p:sp>
          <p:nvSpPr>
            <p:cNvPr id="55" name="Line 55"/>
            <p:cNvSpPr/>
            <p:nvPr/>
          </p:nvSpPr>
          <p:spPr>
            <a:xfrm>
              <a:off x="7600950" y="5000625"/>
              <a:ext cx="895350" cy="476250"/>
            </a:xfrm>
            <a:prstGeom prst="line">
              <a:avLst/>
            </a:prstGeom>
            <a:noFill/>
            <a:ln w="19050">
              <a:solidFill>
                <a:srgbClr val="4A6EA8"/>
              </a:solidFill>
              <a:tailEnd type="triangle" w="lg" len="lg"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8572500" y="2286000"/>
            <a:ext cx="2857500" cy="1047750"/>
            <a:chOff x="8572500" y="2286000"/>
            <a:chExt cx="2857500" cy="1047750"/>
          </a:xfrm>
        </p:grpSpPr>
        <p:sp>
          <p:nvSpPr>
            <p:cNvPr id="57" name="Rectangle 57"/>
            <p:cNvSpPr/>
            <p:nvPr/>
          </p:nvSpPr>
          <p:spPr>
            <a:xfrm>
              <a:off x="8572500" y="22860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851900" y="2533650"/>
              <a:ext cx="228600" cy="241300"/>
              <a:chOff x="8851900" y="2533650"/>
              <a:chExt cx="228600" cy="2413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851900" y="2559050"/>
                <a:ext cx="97752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97752" h="203199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199"/>
                      <a:pt x="25400" y="203199"/>
                    </a:cubicBezTo>
                    <a:lnTo>
                      <a:pt x="97752" y="203199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029699" y="26733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5080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978900" y="2559050"/>
                <a:ext cx="50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76200">
                    <a:moveTo>
                      <a:pt x="50800" y="76200"/>
                    </a:moveTo>
                    <a:lnTo>
                      <a:pt x="50800" y="25400"/>
                    </a:lnTo>
                    <a:cubicBezTo>
                      <a:pt x="50800" y="11372"/>
                      <a:pt x="39428" y="0"/>
                      <a:pt x="2540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902700" y="25336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978900" y="26733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902700" y="26352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902700" y="26860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249918" y="2546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晨报卡片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95004" y="2994660"/>
              <a:ext cx="1684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每天 08:45 推送到飞书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572500" y="3619500"/>
            <a:ext cx="2857500" cy="1047750"/>
            <a:chOff x="8572500" y="3619500"/>
            <a:chExt cx="2857500" cy="1047750"/>
          </a:xfrm>
        </p:grpSpPr>
        <p:sp>
          <p:nvSpPr>
            <p:cNvPr id="69" name="Rectangle 69"/>
            <p:cNvSpPr/>
            <p:nvPr/>
          </p:nvSpPr>
          <p:spPr>
            <a:xfrm>
              <a:off x="8572500" y="36195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8851900" y="3867150"/>
              <a:ext cx="203199" cy="228599"/>
              <a:chOff x="8851900" y="3867150"/>
              <a:chExt cx="203199" cy="228599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851900" y="3867150"/>
                <a:ext cx="20319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77800">
                    <a:moveTo>
                      <a:pt x="76200" y="25400"/>
                    </a:moveTo>
                    <a:cubicBezTo>
                      <a:pt x="76200" y="11372"/>
                      <a:pt x="87572" y="0"/>
                      <a:pt x="101600" y="0"/>
                    </a:cubicBezTo>
                    <a:cubicBezTo>
                      <a:pt x="115628" y="0"/>
                      <a:pt x="127000" y="11372"/>
                      <a:pt x="127000" y="25400"/>
                    </a:cubicBezTo>
                    <a:cubicBezTo>
                      <a:pt x="156720" y="39453"/>
                      <a:pt x="176258" y="68761"/>
                      <a:pt x="177800" y="101600"/>
                    </a:cubicBezTo>
                    <a:lnTo>
                      <a:pt x="177800" y="139700"/>
                    </a:lnTo>
                    <a:cubicBezTo>
                      <a:pt x="179738" y="155712"/>
                      <a:pt x="189165" y="169852"/>
                      <a:pt x="203199" y="177800"/>
                    </a:cubicBezTo>
                    <a:lnTo>
                      <a:pt x="0" y="177800"/>
                    </a:lnTo>
                    <a:cubicBezTo>
                      <a:pt x="14035" y="169852"/>
                      <a:pt x="23462" y="155712"/>
                      <a:pt x="25400" y="139700"/>
                    </a:cubicBezTo>
                    <a:lnTo>
                      <a:pt x="25400" y="101600"/>
                    </a:lnTo>
                    <a:cubicBezTo>
                      <a:pt x="26941" y="68761"/>
                      <a:pt x="46480" y="39453"/>
                      <a:pt x="76200" y="25400"/>
                    </a:cubicBezTo>
                  </a:path>
                </a:pathLst>
              </a:custGeom>
              <a:noFill/>
              <a:ln w="25400">
                <a:solidFill>
                  <a:srgbClr val="F8717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915400" y="40449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0"/>
                    </a:moveTo>
                    <a:lnTo>
                      <a:pt x="0" y="12700"/>
                    </a:lnTo>
                    <a:cubicBezTo>
                      <a:pt x="0" y="33742"/>
                      <a:pt x="17058" y="50800"/>
                      <a:pt x="38100" y="50800"/>
                    </a:cubicBezTo>
                    <a:cubicBezTo>
                      <a:pt x="59142" y="50800"/>
                      <a:pt x="76200" y="33742"/>
                      <a:pt x="76200" y="1270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87171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9249918" y="3879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异常预警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795004" y="4328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红色事项即时提醒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572500" y="4953000"/>
            <a:ext cx="2857500" cy="1047750"/>
            <a:chOff x="8572500" y="4953000"/>
            <a:chExt cx="2857500" cy="1047750"/>
          </a:xfrm>
        </p:grpSpPr>
        <p:sp>
          <p:nvSpPr>
            <p:cNvPr id="76" name="Rectangle 76"/>
            <p:cNvSpPr/>
            <p:nvPr/>
          </p:nvSpPr>
          <p:spPr>
            <a:xfrm>
              <a:off x="8572500" y="4953000"/>
              <a:ext cx="2857500" cy="1047750"/>
            </a:xfrm>
            <a:prstGeom prst="roundRect">
              <a:avLst>
                <a:gd name="adj" fmla="val 10909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8864600" y="5200650"/>
              <a:ext cx="177800" cy="228599"/>
              <a:chOff x="8864600" y="5200650"/>
              <a:chExt cx="177800" cy="228599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978900" y="52006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25400">
                <a:solidFill>
                  <a:srgbClr val="8A7C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864600" y="52006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25400">
                <a:solidFill>
                  <a:srgbClr val="8A7C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915400" y="52768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rgbClr val="8A7C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915400" y="53276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8A7C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915400" y="537844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8A7C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9249918" y="5213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自动周报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95004" y="56616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周五下班前生成草稿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5585574" cy="948690"/>
            <a:chOff x="746760" y="647700"/>
            <a:chExt cx="5585574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1901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05 · 功能一 ROSTER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558557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艺人档案:先分级,再分配精力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3999" y="2219325"/>
            <a:ext cx="2363724" cy="2864453"/>
            <a:chOff x="753999" y="2219325"/>
            <a:chExt cx="2363724" cy="2864453"/>
          </a:xfrm>
        </p:grpSpPr>
        <p:grpSp>
          <p:nvGrpSpPr>
            <p:cNvPr id="13" name="Group 13"/>
            <p:cNvGrpSpPr/>
            <p:nvPr/>
          </p:nvGrpSpPr>
          <p:grpSpPr>
            <a:xfrm>
              <a:off x="809625" y="2219325"/>
              <a:ext cx="285751" cy="285751"/>
              <a:chOff x="809625" y="2219325"/>
              <a:chExt cx="28575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41375" y="22193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rgbClr val="8A7C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5" y="24098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rgbClr val="8A7C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16001" y="22213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rgbClr val="8A7C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1" y="24122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rgbClr val="8A7C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53999" y="2897029"/>
              <a:ext cx="2363724" cy="9938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12 位艺人不能平均用力。</a:t>
              </a:r>
              <a:br/>
              <a:r>
                <a:rPr lang="zh-CN" sz="15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AI 按阶段与数据自动归档,</a:t>
              </a:r>
              <a:br/>
              <a:r>
                <a:rPr lang="zh-CN" sz="158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跟进节奏一目了然。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152900"/>
              <a:ext cx="5715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523" y="4548664"/>
              <a:ext cx="2009013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spc="75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12 位签约艺人 · 3 个梯队</a:t>
              </a:r>
              <a:br/>
              <a:r>
                <a:rPr lang="zh-CN" sz="1280" spc="75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档案每日自动刷新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866900"/>
            <a:ext cx="7048500" cy="1272540"/>
            <a:chOff x="4381500" y="1866900"/>
            <a:chExt cx="7048500" cy="1272540"/>
          </a:xfrm>
        </p:grpSpPr>
        <p:sp>
          <p:nvSpPr>
            <p:cNvPr id="18" name="Rectangle 18"/>
            <p:cNvSpPr/>
            <p:nvPr/>
          </p:nvSpPr>
          <p:spPr>
            <a:xfrm>
              <a:off x="4381500" y="1866900"/>
              <a:ext cx="7048500" cy="1257300"/>
            </a:xfrm>
            <a:prstGeom prst="roundRect">
              <a:avLst>
                <a:gd name="adj" fmla="val 10606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1866900"/>
              <a:ext cx="57150" cy="1257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43450" y="2205990"/>
              <a:ext cx="43238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gradFill>
                    <a:gsLst>
                      <a:gs pos="0">
                        <a:srgbClr val="8A7CFF"/>
                      </a:gs>
                      <a:gs pos="100000">
                        <a:srgbClr val="38BDF8"/>
                      </a:gs>
                    </a:gsLst>
                    <a:lin ang="5400000" scaled="1"/>
                  </a:gradFill>
                  <a:latin typeface="Microsoft YaHei"/>
                  <a:ea typeface="Microsoft YaHei"/>
                  <a:cs typeface="Microsoft YaHei"/>
                </a:rPr>
                <a:t>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595938" y="2150269"/>
              <a:ext cx="190812" cy="226513"/>
              <a:chOff x="5595938" y="2150269"/>
              <a:chExt cx="190812" cy="2265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619750" y="215026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595938" y="2293144"/>
                <a:ext cx="5357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53578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53578" y="0"/>
                    </a:ln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686096" y="2281232"/>
                <a:ext cx="100654" cy="95550"/>
              </a:xfrm>
              <a:custGeom>
                <a:avLst/>
                <a:gdLst/>
                <a:ahLst/>
                <a:cxnLst/>
                <a:rect l="l" t="t" r="r" b="b"/>
                <a:pathLst>
                  <a:path w="100654" h="95550">
                    <a:moveTo>
                      <a:pt x="50335" y="81170"/>
                    </a:moveTo>
                    <a:lnTo>
                      <a:pt x="24475" y="94720"/>
                    </a:lnTo>
                    <a:cubicBezTo>
                      <a:pt x="22909" y="95534"/>
                      <a:pt x="21019" y="95397"/>
                      <a:pt x="19588" y="94364"/>
                    </a:cubicBezTo>
                    <a:cubicBezTo>
                      <a:pt x="18157" y="93331"/>
                      <a:pt x="17431" y="91580"/>
                      <a:pt x="17712" y="89838"/>
                    </a:cubicBezTo>
                    <a:lnTo>
                      <a:pt x="22653" y="61132"/>
                    </a:lnTo>
                    <a:lnTo>
                      <a:pt x="1734" y="40808"/>
                    </a:lnTo>
                    <a:cubicBezTo>
                      <a:pt x="460" y="39577"/>
                      <a:pt x="0" y="37726"/>
                      <a:pt x="550" y="36042"/>
                    </a:cubicBezTo>
                    <a:cubicBezTo>
                      <a:pt x="1099" y="34357"/>
                      <a:pt x="2562" y="33134"/>
                      <a:pt x="4317" y="32891"/>
                    </a:cubicBezTo>
                    <a:lnTo>
                      <a:pt x="33226" y="28700"/>
                    </a:lnTo>
                    <a:lnTo>
                      <a:pt x="46156" y="2589"/>
                    </a:lnTo>
                    <a:cubicBezTo>
                      <a:pt x="46945" y="1003"/>
                      <a:pt x="48563" y="0"/>
                      <a:pt x="50335" y="0"/>
                    </a:cubicBezTo>
                    <a:cubicBezTo>
                      <a:pt x="52106" y="0"/>
                      <a:pt x="53725" y="1003"/>
                      <a:pt x="54514" y="2589"/>
                    </a:cubicBezTo>
                    <a:lnTo>
                      <a:pt x="67444" y="28700"/>
                    </a:lnTo>
                    <a:lnTo>
                      <a:pt x="96353" y="32891"/>
                    </a:lnTo>
                    <a:cubicBezTo>
                      <a:pt x="98102" y="33142"/>
                      <a:pt x="99557" y="34366"/>
                      <a:pt x="100106" y="36046"/>
                    </a:cubicBezTo>
                    <a:cubicBezTo>
                      <a:pt x="100654" y="37727"/>
                      <a:pt x="100201" y="39573"/>
                      <a:pt x="98936" y="40808"/>
                    </a:cubicBezTo>
                    <a:lnTo>
                      <a:pt x="78017" y="61132"/>
                    </a:lnTo>
                    <a:lnTo>
                      <a:pt x="82946" y="89826"/>
                    </a:lnTo>
                    <a:cubicBezTo>
                      <a:pt x="83248" y="91572"/>
                      <a:pt x="82530" y="93337"/>
                      <a:pt x="81096" y="94377"/>
                    </a:cubicBezTo>
                    <a:cubicBezTo>
                      <a:pt x="79661" y="95417"/>
                      <a:pt x="77760" y="95550"/>
                      <a:pt x="76195" y="94720"/>
                    </a:cubicBezTo>
                    <a:lnTo>
                      <a:pt x="50335" y="81170"/>
                    </a:ln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953506" y="214884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重点艺人 · 全力护航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17642" y="26736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每日跟进 · 专属企划 · 优先资源位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3314700"/>
            <a:ext cx="7048500" cy="1272540"/>
            <a:chOff x="4381500" y="3314700"/>
            <a:chExt cx="7048500" cy="1272540"/>
          </a:xfrm>
        </p:grpSpPr>
        <p:sp>
          <p:nvSpPr>
            <p:cNvPr id="28" name="Rectangle 28"/>
            <p:cNvSpPr/>
            <p:nvPr/>
          </p:nvSpPr>
          <p:spPr>
            <a:xfrm>
              <a:off x="4381500" y="3314700"/>
              <a:ext cx="7048500" cy="1257300"/>
            </a:xfrm>
            <a:prstGeom prst="roundRect">
              <a:avLst>
                <a:gd name="adj" fmla="val 10606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81500" y="33147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4400" y="3653790"/>
              <a:ext cx="43238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560219" y="3645694"/>
              <a:ext cx="214313" cy="119062"/>
              <a:chOff x="5560219" y="3645694"/>
              <a:chExt cx="214313" cy="1190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560219" y="3645694"/>
                <a:ext cx="21431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19062">
                    <a:moveTo>
                      <a:pt x="0" y="119062"/>
                    </a:moveTo>
                    <a:lnTo>
                      <a:pt x="71438" y="47625"/>
                    </a:lnTo>
                    <a:lnTo>
                      <a:pt x="119062" y="95250"/>
                    </a:ln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38BDF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91188" y="3645694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0" y="0"/>
                    </a:moveTo>
                    <a:lnTo>
                      <a:pt x="83344" y="0"/>
                    </a:lnTo>
                    <a:lnTo>
                      <a:pt x="83344" y="83344"/>
                    </a:lnTo>
                  </a:path>
                </a:pathLst>
              </a:custGeom>
              <a:noFill/>
              <a:ln w="23812">
                <a:solidFill>
                  <a:srgbClr val="38BDF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953506" y="35966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上升期 · 乘胜追击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17642" y="41214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每周复盘 · 资源倾斜 · 重点保发行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81500" y="4762500"/>
            <a:ext cx="7048500" cy="1272540"/>
            <a:chOff x="4381500" y="4762500"/>
            <a:chExt cx="7048500" cy="1272540"/>
          </a:xfrm>
        </p:grpSpPr>
        <p:sp>
          <p:nvSpPr>
            <p:cNvPr id="37" name="Rectangle 37"/>
            <p:cNvSpPr/>
            <p:nvPr/>
          </p:nvSpPr>
          <p:spPr>
            <a:xfrm>
              <a:off x="4381500" y="4762500"/>
              <a:ext cx="7048500" cy="1257300"/>
            </a:xfrm>
            <a:prstGeom prst="roundRect">
              <a:avLst>
                <a:gd name="adj" fmla="val 10606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81500" y="47625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64789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43450" y="5101590"/>
              <a:ext cx="43238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572125" y="5057775"/>
              <a:ext cx="190500" cy="190500"/>
              <a:chOff x="5572125" y="5057775"/>
              <a:chExt cx="190500" cy="190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572125" y="51649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64789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703094" y="51649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rgbClr val="64789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572125" y="50577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23812">
                <a:solidFill>
                  <a:srgbClr val="64789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953506" y="504444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孵化期 · 静待花开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17642" y="5569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双周同步 · 素材库支持 · 数据观察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5352345" cy="948690"/>
            <a:chOff x="746760" y="647700"/>
            <a:chExt cx="5352345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666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05 · 功能二 RELEASE RADAR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53523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发行排期:一条时间轴盯全程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2300" y="2440781"/>
            <a:ext cx="10690860" cy="2217325"/>
            <a:chOff x="722300" y="2440781"/>
            <a:chExt cx="10690860" cy="2217325"/>
          </a:xfrm>
        </p:grpSpPr>
        <p:sp>
          <p:nvSpPr>
            <p:cNvPr id="9" name="Rectangle 9"/>
            <p:cNvSpPr/>
            <p:nvPr/>
          </p:nvSpPr>
          <p:spPr>
            <a:xfrm>
              <a:off x="952500" y="3695700"/>
              <a:ext cx="10287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1239500" y="3600450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8BDF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2300" y="2454275"/>
              <a:ext cx="1603400" cy="2203831"/>
              <a:chOff x="722300" y="2454275"/>
              <a:chExt cx="1603400" cy="2203831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1402556" y="2454275"/>
                <a:ext cx="242888" cy="215901"/>
                <a:chOff x="1402556" y="2454275"/>
                <a:chExt cx="242888" cy="215901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510507" y="2589213"/>
                  <a:ext cx="80963" cy="8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80963">
                      <a:moveTo>
                        <a:pt x="0" y="40481"/>
                      </a:moveTo>
                      <a:cubicBezTo>
                        <a:pt x="0" y="62839"/>
                        <a:pt x="18124" y="80963"/>
                        <a:pt x="40481" y="80963"/>
                      </a:cubicBezTo>
                      <a:cubicBezTo>
                        <a:pt x="62839" y="80963"/>
                        <a:pt x="80963" y="62839"/>
                        <a:pt x="80963" y="40481"/>
                      </a:cubicBezTo>
                      <a:cubicBezTo>
                        <a:pt x="80963" y="18124"/>
                        <a:pt x="62839" y="0"/>
                        <a:pt x="40481" y="0"/>
                      </a:cubicBezTo>
                      <a:cubicBezTo>
                        <a:pt x="18124" y="0"/>
                        <a:pt x="0" y="18124"/>
                        <a:pt x="0" y="40481"/>
                      </a:cubicBezTo>
                    </a:path>
                  </a:pathLst>
                </a:custGeom>
                <a:noFill/>
                <a:ln w="26988">
                  <a:solidFill>
                    <a:srgbClr val="8A7C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591469" y="2454275"/>
                  <a:ext cx="53975" cy="17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175419">
                      <a:moveTo>
                        <a:pt x="0" y="175419"/>
                      </a:moveTo>
                      <a:lnTo>
                        <a:pt x="0" y="0"/>
                      </a:lnTo>
                      <a:lnTo>
                        <a:pt x="53975" y="0"/>
                      </a:lnTo>
                    </a:path>
                  </a:pathLst>
                </a:custGeom>
                <a:noFill/>
                <a:ln w="26988">
                  <a:solidFill>
                    <a:srgbClr val="8A7CFF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02556" y="2467769"/>
                  <a:ext cx="1349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38" h="9525">
                      <a:moveTo>
                        <a:pt x="13493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rgbClr val="8A7CFF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02556" y="2521744"/>
                  <a:ext cx="1349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938" h="9525">
                      <a:moveTo>
                        <a:pt x="0" y="0"/>
                      </a:moveTo>
                      <a:lnTo>
                        <a:pt x="134938" y="0"/>
                      </a:lnTo>
                    </a:path>
                  </a:pathLst>
                </a:custGeom>
                <a:noFill/>
                <a:ln w="26988">
                  <a:solidFill>
                    <a:srgbClr val="8A7CFF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402556" y="2575719"/>
                  <a:ext cx="809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9525">
                      <a:moveTo>
                        <a:pt x="80963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rgbClr val="8A7CFF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049160" y="3022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收歌评估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428750" y="3619500"/>
                <a:ext cx="190500" cy="190500"/>
              </a:xfrm>
              <a:prstGeom prst="ellipse">
                <a:avLst/>
              </a:prstGeom>
              <a:solidFill>
                <a:srgbClr val="0B1220"/>
              </a:solidFill>
              <a:ln w="23812">
                <a:solidFill>
                  <a:srgbClr val="8A7CFF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11041" y="4088606"/>
                <a:ext cx="425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spc="150" dirty="0">
                    <a:solidFill>
                      <a:srgbClr val="64789E"/>
                    </a:solidFill>
                    <a:latin typeface="Microsoft YaHei"/>
                    <a:ea typeface="Microsoft YaHei"/>
                    <a:cs typeface="Microsoft YaHei"/>
                  </a:rPr>
                  <a:t>T-30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22300" y="4423410"/>
                <a:ext cx="16034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demo 试听 · 意向确认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064840" y="2440781"/>
              <a:ext cx="1490320" cy="2217325"/>
              <a:chOff x="3064840" y="2440781"/>
              <a:chExt cx="1490320" cy="2217325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3702050" y="2440781"/>
                <a:ext cx="215901" cy="242889"/>
                <a:chOff x="3702050" y="2440781"/>
                <a:chExt cx="215901" cy="242889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702050" y="2467769"/>
                  <a:ext cx="215901" cy="215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215901">
                      <a:moveTo>
                        <a:pt x="0" y="26988"/>
                      </a:moveTo>
                      <a:cubicBezTo>
                        <a:pt x="0" y="12083"/>
                        <a:pt x="12083" y="0"/>
                        <a:pt x="26988" y="0"/>
                      </a:cubicBezTo>
                      <a:lnTo>
                        <a:pt x="188913" y="0"/>
                      </a:lnTo>
                      <a:cubicBezTo>
                        <a:pt x="203818" y="0"/>
                        <a:pt x="215901" y="12083"/>
                        <a:pt x="215901" y="26988"/>
                      </a:cubicBezTo>
                      <a:lnTo>
                        <a:pt x="215901" y="188913"/>
                      </a:lnTo>
                      <a:cubicBezTo>
                        <a:pt x="215901" y="203818"/>
                        <a:pt x="203818" y="215901"/>
                        <a:pt x="188913" y="215901"/>
                      </a:cubicBezTo>
                      <a:lnTo>
                        <a:pt x="26988" y="215901"/>
                      </a:lnTo>
                      <a:cubicBezTo>
                        <a:pt x="12083" y="215901"/>
                        <a:pt x="0" y="203818"/>
                        <a:pt x="0" y="188913"/>
                      </a:cubicBezTo>
                      <a:lnTo>
                        <a:pt x="0" y="26988"/>
                      </a:lnTo>
                    </a:path>
                  </a:pathLst>
                </a:custGeom>
                <a:noFill/>
                <a:ln w="26988">
                  <a:solidFill>
                    <a:srgbClr val="7D8DF9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863976" y="2440781"/>
                  <a:ext cx="95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975">
                      <a:moveTo>
                        <a:pt x="0" y="0"/>
                      </a:moveTo>
                      <a:lnTo>
                        <a:pt x="0" y="53975"/>
                      </a:lnTo>
                    </a:path>
                  </a:pathLst>
                </a:custGeom>
                <a:noFill/>
                <a:ln w="26988">
                  <a:solidFill>
                    <a:srgbClr val="7D8DF9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756025" y="2440781"/>
                  <a:ext cx="952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3975">
                      <a:moveTo>
                        <a:pt x="0" y="0"/>
                      </a:moveTo>
                      <a:lnTo>
                        <a:pt x="0" y="53975"/>
                      </a:lnTo>
                    </a:path>
                  </a:pathLst>
                </a:custGeom>
                <a:noFill/>
                <a:ln w="26988">
                  <a:solidFill>
                    <a:srgbClr val="7D8DF9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702050" y="2548732"/>
                  <a:ext cx="2159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9525">
                      <a:moveTo>
                        <a:pt x="0" y="0"/>
                      </a:move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7D8DF9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756025" y="2602707"/>
                  <a:ext cx="26988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26988">
                      <a:moveTo>
                        <a:pt x="0" y="0"/>
                      </a:moveTo>
                      <a:lnTo>
                        <a:pt x="26988" y="0"/>
                      </a:lnTo>
                      <a:lnTo>
                        <a:pt x="26988" y="26988"/>
                      </a:lnTo>
                      <a:lnTo>
                        <a:pt x="0" y="269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6988">
                  <a:solidFill>
                    <a:srgbClr val="7D8DF9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568389" y="3022282"/>
                <a:ext cx="4832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定档</a:t>
                </a:r>
              </a:p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3714750" y="3619500"/>
                <a:ext cx="190500" cy="190500"/>
              </a:xfrm>
              <a:prstGeom prst="ellipse">
                <a:avLst/>
              </a:prstGeom>
              <a:solidFill>
                <a:srgbClr val="0B1220"/>
              </a:solidFill>
              <a:ln w="23812">
                <a:solidFill>
                  <a:srgbClr val="7D8DF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597041" y="4088606"/>
                <a:ext cx="42591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spc="150" dirty="0">
                    <a:solidFill>
                      <a:srgbClr val="64789E"/>
                    </a:solidFill>
                    <a:latin typeface="Microsoft YaHei"/>
                    <a:ea typeface="Microsoft YaHei"/>
                    <a:cs typeface="Microsoft YaHei"/>
                  </a:rPr>
                  <a:t>T-14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64840" y="442341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档期锁定 · 平台报备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257952" y="2440781"/>
              <a:ext cx="1676095" cy="2217325"/>
              <a:chOff x="5257952" y="2440781"/>
              <a:chExt cx="1676095" cy="2217325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5974556" y="2440781"/>
                <a:ext cx="242888" cy="242888"/>
                <a:chOff x="5974556" y="2440781"/>
                <a:chExt cx="242888" cy="242888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5974556" y="24407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40481" y="242888"/>
                      </a:moveTo>
                      <a:lnTo>
                        <a:pt x="242888" y="40481"/>
                      </a:lnTo>
                      <a:lnTo>
                        <a:pt x="202407" y="0"/>
                      </a:lnTo>
                      <a:lnTo>
                        <a:pt x="0" y="202407"/>
                      </a:lnTo>
                      <a:lnTo>
                        <a:pt x="40481" y="242888"/>
                      </a:lnTo>
                    </a:path>
                  </a:pathLst>
                </a:custGeom>
                <a:noFill/>
                <a:ln w="26988">
                  <a:solidFill>
                    <a:srgbClr val="6BA4F5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136482" y="2481263"/>
                  <a:ext cx="40481" cy="404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81" h="40481">
                      <a:moveTo>
                        <a:pt x="0" y="0"/>
                      </a:moveTo>
                      <a:lnTo>
                        <a:pt x="40481" y="40481"/>
                      </a:lnTo>
                    </a:path>
                  </a:pathLst>
                </a:custGeom>
                <a:noFill/>
                <a:ln w="26988">
                  <a:solidFill>
                    <a:srgbClr val="6BA4F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028531" y="2440781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26988" y="0"/>
                      </a:moveTo>
                      <a:cubicBezTo>
                        <a:pt x="26988" y="14905"/>
                        <a:pt x="39070" y="26988"/>
                        <a:pt x="53975" y="26988"/>
                      </a:cubicBezTo>
                      <a:cubicBezTo>
                        <a:pt x="39070" y="26988"/>
                        <a:pt x="26988" y="39070"/>
                        <a:pt x="26988" y="53975"/>
                      </a:cubicBezTo>
                      <a:cubicBezTo>
                        <a:pt x="26988" y="39070"/>
                        <a:pt x="14905" y="26988"/>
                        <a:pt x="0" y="26988"/>
                      </a:cubicBezTo>
                      <a:cubicBezTo>
                        <a:pt x="14905" y="26988"/>
                        <a:pt x="26988" y="14905"/>
                        <a:pt x="26988" y="0"/>
                      </a:cubicBezTo>
                    </a:path>
                  </a:pathLst>
                </a:custGeom>
                <a:noFill/>
                <a:ln w="26988">
                  <a:solidFill>
                    <a:srgbClr val="6BA4F5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163469" y="2575719"/>
                  <a:ext cx="53975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53975">
                      <a:moveTo>
                        <a:pt x="26988" y="0"/>
                      </a:moveTo>
                      <a:cubicBezTo>
                        <a:pt x="26988" y="14905"/>
                        <a:pt x="39070" y="26988"/>
                        <a:pt x="53975" y="26988"/>
                      </a:cubicBezTo>
                      <a:cubicBezTo>
                        <a:pt x="39070" y="26988"/>
                        <a:pt x="26988" y="39070"/>
                        <a:pt x="26988" y="53975"/>
                      </a:cubicBezTo>
                      <a:cubicBezTo>
                        <a:pt x="26988" y="39070"/>
                        <a:pt x="14905" y="26988"/>
                        <a:pt x="0" y="26988"/>
                      </a:cubicBezTo>
                      <a:cubicBezTo>
                        <a:pt x="14905" y="26988"/>
                        <a:pt x="26988" y="14905"/>
                        <a:pt x="26988" y="0"/>
                      </a:cubicBezTo>
                    </a:path>
                  </a:pathLst>
                </a:custGeom>
                <a:noFill/>
                <a:ln w="26988">
                  <a:solidFill>
                    <a:srgbClr val="6BA4F5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5621160" y="3022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物料筹备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6000750" y="3619500"/>
                <a:ext cx="190500" cy="190500"/>
              </a:xfrm>
              <a:prstGeom prst="ellipse">
                <a:avLst/>
              </a:prstGeom>
              <a:solidFill>
                <a:srgbClr val="0B1220"/>
              </a:solidFill>
              <a:ln w="23812">
                <a:solidFill>
                  <a:srgbClr val="6BA4F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937519" y="4088606"/>
                <a:ext cx="3169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spc="150" dirty="0">
                    <a:solidFill>
                      <a:srgbClr val="64789E"/>
                    </a:solidFill>
                    <a:latin typeface="Microsoft YaHei"/>
                    <a:ea typeface="Microsoft YaHei"/>
                    <a:cs typeface="Microsoft YaHei"/>
                  </a:rPr>
                  <a:t>T-7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257952" y="4423410"/>
                <a:ext cx="16760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封面 · 文案 · 视频切片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7556068" y="2454275"/>
              <a:ext cx="1651864" cy="2203831"/>
              <a:chOff x="7556068" y="2454275"/>
              <a:chExt cx="1651864" cy="2203831"/>
            </a:xfrm>
          </p:grpSpPr>
          <p:grpSp>
            <p:nvGrpSpPr>
              <p:cNvPr id="46" name="Group 46"/>
              <p:cNvGrpSpPr/>
              <p:nvPr/>
            </p:nvGrpSpPr>
            <p:grpSpPr>
              <a:xfrm>
                <a:off x="8269788" y="2454275"/>
                <a:ext cx="220163" cy="220163"/>
                <a:chOff x="8269788" y="2454275"/>
                <a:chExt cx="220163" cy="220163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274050" y="2454275"/>
                  <a:ext cx="215901" cy="2159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215901">
                      <a:moveTo>
                        <a:pt x="0" y="121444"/>
                      </a:moveTo>
                      <a:cubicBezTo>
                        <a:pt x="49525" y="127330"/>
                        <a:pt x="88571" y="166376"/>
                        <a:pt x="94456" y="215901"/>
                      </a:cubicBezTo>
                      <a:cubicBezTo>
                        <a:pt x="118706" y="201921"/>
                        <a:pt x="134014" y="176407"/>
                        <a:pt x="134938" y="148432"/>
                      </a:cubicBezTo>
                      <a:cubicBezTo>
                        <a:pt x="181272" y="132132"/>
                        <a:pt x="213226" y="89526"/>
                        <a:pt x="215901" y="40481"/>
                      </a:cubicBezTo>
                      <a:cubicBezTo>
                        <a:pt x="215901" y="18124"/>
                        <a:pt x="197776" y="0"/>
                        <a:pt x="175419" y="0"/>
                      </a:cubicBezTo>
                      <a:cubicBezTo>
                        <a:pt x="126374" y="2674"/>
                        <a:pt x="83769" y="34628"/>
                        <a:pt x="67469" y="80963"/>
                      </a:cubicBezTo>
                      <a:cubicBezTo>
                        <a:pt x="39494" y="81887"/>
                        <a:pt x="13980" y="97195"/>
                        <a:pt x="0" y="121444"/>
                      </a:cubicBezTo>
                    </a:path>
                  </a:pathLst>
                </a:custGeom>
                <a:noFill/>
                <a:ln w="26988">
                  <a:solidFill>
                    <a:srgbClr val="54B2F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269788" y="2589213"/>
                  <a:ext cx="85225" cy="8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25" h="85225">
                      <a:moveTo>
                        <a:pt x="44743" y="0"/>
                      </a:moveTo>
                      <a:cubicBezTo>
                        <a:pt x="16014" y="16219"/>
                        <a:pt x="0" y="48248"/>
                        <a:pt x="4262" y="80963"/>
                      </a:cubicBezTo>
                      <a:cubicBezTo>
                        <a:pt x="36977" y="85225"/>
                        <a:pt x="69006" y="69210"/>
                        <a:pt x="85225" y="40481"/>
                      </a:cubicBezTo>
                    </a:path>
                  </a:pathLst>
                </a:custGeom>
                <a:noFill/>
                <a:ln w="26988">
                  <a:solidFill>
                    <a:srgbClr val="54B2F0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8408988" y="2508250"/>
                  <a:ext cx="26988" cy="2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8" h="26988">
                      <a:moveTo>
                        <a:pt x="0" y="13494"/>
                      </a:moveTo>
                      <a:cubicBezTo>
                        <a:pt x="0" y="20946"/>
                        <a:pt x="6041" y="26988"/>
                        <a:pt x="13494" y="26988"/>
                      </a:cubicBezTo>
                      <a:cubicBezTo>
                        <a:pt x="20946" y="26988"/>
                        <a:pt x="26988" y="20946"/>
                        <a:pt x="26988" y="13494"/>
                      </a:cubicBezTo>
                      <a:cubicBezTo>
                        <a:pt x="26988" y="6041"/>
                        <a:pt x="20946" y="0"/>
                        <a:pt x="13494" y="0"/>
                      </a:cubicBezTo>
                      <a:cubicBezTo>
                        <a:pt x="6041" y="0"/>
                        <a:pt x="0" y="6041"/>
                        <a:pt x="0" y="13494"/>
                      </a:cubicBezTo>
                    </a:path>
                  </a:pathLst>
                </a:custGeom>
                <a:noFill/>
                <a:ln w="26988">
                  <a:solidFill>
                    <a:srgbClr val="54B2F0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7907160" y="3022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上线宣发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8286750" y="3619500"/>
                <a:ext cx="190500" cy="190500"/>
              </a:xfrm>
              <a:prstGeom prst="ellipse">
                <a:avLst/>
              </a:prstGeom>
              <a:solidFill>
                <a:srgbClr val="0B1220"/>
              </a:solidFill>
              <a:ln w="23812">
                <a:solidFill>
                  <a:srgbClr val="54B2F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223519" y="4088606"/>
                <a:ext cx="3169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spc="150" dirty="0">
                    <a:solidFill>
                      <a:srgbClr val="64789E"/>
                    </a:solidFill>
                    <a:latin typeface="Microsoft YaHei"/>
                    <a:ea typeface="Microsoft YaHei"/>
                    <a:cs typeface="Microsoft YaHei"/>
                  </a:rPr>
                  <a:t>T-0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556068" y="4423410"/>
                <a:ext cx="1651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全渠道发布 · 首日冲刺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922840" y="2481263"/>
              <a:ext cx="1490320" cy="2176843"/>
              <a:chOff x="9922840" y="2481263"/>
              <a:chExt cx="1490320" cy="2176843"/>
            </a:xfrm>
          </p:grpSpPr>
          <p:grpSp>
            <p:nvGrpSpPr>
              <p:cNvPr id="54" name="Group 54"/>
              <p:cNvGrpSpPr/>
              <p:nvPr/>
            </p:nvGrpSpPr>
            <p:grpSpPr>
              <a:xfrm>
                <a:off x="10560050" y="2481263"/>
                <a:ext cx="215901" cy="184944"/>
                <a:chOff x="10560050" y="2481263"/>
                <a:chExt cx="215901" cy="184944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10560050" y="2656682"/>
                  <a:ext cx="215901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9525">
                      <a:moveTo>
                        <a:pt x="0" y="0"/>
                      </a:moveTo>
                      <a:lnTo>
                        <a:pt x="215901" y="0"/>
                      </a:lnTo>
                    </a:path>
                  </a:pathLst>
                </a:custGeom>
                <a:noFill/>
                <a:ln w="26988">
                  <a:solidFill>
                    <a:srgbClr val="38BDF8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10560050" y="2481263"/>
                  <a:ext cx="215901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1" h="121444">
                      <a:moveTo>
                        <a:pt x="0" y="121444"/>
                      </a:moveTo>
                      <a:lnTo>
                        <a:pt x="53975" y="40481"/>
                      </a:lnTo>
                      <a:lnTo>
                        <a:pt x="107950" y="67469"/>
                      </a:lnTo>
                      <a:lnTo>
                        <a:pt x="161925" y="0"/>
                      </a:lnTo>
                      <a:lnTo>
                        <a:pt x="215901" y="53975"/>
                      </a:lnTo>
                    </a:path>
                  </a:pathLst>
                </a:custGeom>
                <a:noFill/>
                <a:ln w="26988">
                  <a:solidFill>
                    <a:srgbClr val="38BDF8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10193160" y="3022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数据复盘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0572750" y="3619500"/>
                <a:ext cx="190500" cy="190500"/>
              </a:xfrm>
              <a:prstGeom prst="ellipse">
                <a:avLst/>
              </a:prstGeom>
              <a:solidFill>
                <a:srgbClr val="0B1220"/>
              </a:solidFill>
              <a:ln w="23812">
                <a:solidFill>
                  <a:srgbClr val="38BDF8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509519" y="4088606"/>
                <a:ext cx="3169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spc="150" dirty="0">
                    <a:solidFill>
                      <a:srgbClr val="64789E"/>
                    </a:solidFill>
                    <a:latin typeface="Microsoft YaHei"/>
                    <a:ea typeface="Microsoft YaHei"/>
                    <a:cs typeface="Microsoft YaHei"/>
                  </a:rPr>
                  <a:t>T+7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922840" y="4423410"/>
                <a:ext cx="14903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首周战报 · 策略迭代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762000" y="5334000"/>
            <a:ext cx="10668000" cy="723900"/>
            <a:chOff x="762000" y="5334000"/>
            <a:chExt cx="10668000" cy="723900"/>
          </a:xfrm>
        </p:grpSpPr>
        <p:sp>
          <p:nvSpPr>
            <p:cNvPr id="61" name="Rectangle 61"/>
            <p:cNvSpPr/>
            <p:nvPr/>
          </p:nvSpPr>
          <p:spPr>
            <a:xfrm>
              <a:off x="762000" y="5334000"/>
              <a:ext cx="10668000" cy="723900"/>
            </a:xfrm>
            <a:prstGeom prst="roundRect">
              <a:avLst>
                <a:gd name="adj" fmla="val 18421"/>
              </a:avLst>
            </a:prstGeom>
            <a:solidFill>
              <a:srgbClr val="101828"/>
            </a:solidFill>
            <a:ln w="9525">
              <a:solidFill>
                <a:srgbClr val="2E4468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140619" y="5579269"/>
              <a:ext cx="214312" cy="214312"/>
              <a:chOff x="1140619" y="5579269"/>
              <a:chExt cx="214312" cy="21431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140619" y="55792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FBBF2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247775" y="5626894"/>
                <a:ext cx="35719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95250">
                    <a:moveTo>
                      <a:pt x="0" y="0"/>
                    </a:moveTo>
                    <a:lnTo>
                      <a:pt x="0" y="59531"/>
                    </a:lnTo>
                    <a:lnTo>
                      <a:pt x="35719" y="95250"/>
                    </a:lnTo>
                  </a:path>
                </a:pathLst>
              </a:custGeom>
              <a:noFill/>
              <a:ln w="23812">
                <a:solidFill>
                  <a:srgbClr val="FBBF24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592961" y="5618321"/>
              <a:ext cx="6150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节点自动提醒:临期未完成自动升级为红色预警,直接推送到对应项目群。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4928292" cy="948690"/>
            <a:chOff x="746760" y="647700"/>
            <a:chExt cx="4928292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627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05 · 功能三 DATA SENTINEL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49282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数据哨兵:异常自己找上门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1866900"/>
            <a:ext cx="5334000" cy="1219200"/>
            <a:chOff x="762000" y="1866900"/>
            <a:chExt cx="5334000" cy="1219200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5334000" cy="1219200"/>
            </a:xfrm>
            <a:prstGeom prst="roundRect">
              <a:avLst>
                <a:gd name="adj" fmla="val 10938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085850" y="2209800"/>
              <a:ext cx="152400" cy="1524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1887" y="2175986"/>
              <a:ext cx="188957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播放量异动 ±30%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95375" y="262890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76200"/>
                  </a:moveTo>
                  <a:lnTo>
                    <a:pt x="38100" y="76200"/>
                  </a:lnTo>
                  <a:lnTo>
                    <a:pt x="66675" y="152400"/>
                  </a:lnTo>
                  <a:lnTo>
                    <a:pt x="104775" y="0"/>
                  </a:lnTo>
                  <a:lnTo>
                    <a:pt x="133350" y="76200"/>
                  </a:lnTo>
                  <a:lnTo>
                    <a:pt x="171450" y="76200"/>
                  </a:lnTo>
                </a:path>
              </a:pathLst>
            </a:custGeom>
            <a:noFill/>
            <a:ln w="19050">
              <a:solidFill>
                <a:srgbClr val="64789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3792" y="263556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即时推送红色预警,附可能原因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3314700"/>
            <a:ext cx="5334000" cy="1219200"/>
            <a:chOff x="762000" y="3314700"/>
            <a:chExt cx="5334000" cy="1219200"/>
          </a:xfrm>
        </p:grpSpPr>
        <p:sp>
          <p:nvSpPr>
            <p:cNvPr id="15" name="Rectangle 15"/>
            <p:cNvSpPr/>
            <p:nvPr/>
          </p:nvSpPr>
          <p:spPr>
            <a:xfrm>
              <a:off x="762000" y="3314700"/>
              <a:ext cx="5334000" cy="1219200"/>
            </a:xfrm>
            <a:prstGeom prst="roundRect">
              <a:avLst>
                <a:gd name="adj" fmla="val 10938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85850" y="3657600"/>
              <a:ext cx="152400" cy="1524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81887" y="3623786"/>
              <a:ext cx="199898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连续 3 日涨粉异常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095375" y="4105275"/>
              <a:ext cx="171450" cy="95250"/>
              <a:chOff x="1095375" y="4105275"/>
              <a:chExt cx="171450" cy="952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95375" y="4105275"/>
                <a:ext cx="1714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0">
                    <a:moveTo>
                      <a:pt x="0" y="95250"/>
                    </a:moveTo>
                    <a:lnTo>
                      <a:pt x="57150" y="38100"/>
                    </a:lnTo>
                    <a:lnTo>
                      <a:pt x="95250" y="76200"/>
                    </a:ln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64789E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200150" y="41052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64789E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83792" y="4083368"/>
              <a:ext cx="2294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进入黄色关注清单,晨报置顶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4762500"/>
            <a:ext cx="5334000" cy="1219200"/>
            <a:chOff x="762000" y="4762500"/>
            <a:chExt cx="5334000" cy="1219200"/>
          </a:xfrm>
        </p:grpSpPr>
        <p:sp>
          <p:nvSpPr>
            <p:cNvPr id="23" name="Rectangle 23"/>
            <p:cNvSpPr/>
            <p:nvPr/>
          </p:nvSpPr>
          <p:spPr>
            <a:xfrm>
              <a:off x="762000" y="4762500"/>
              <a:ext cx="5334000" cy="1219200"/>
            </a:xfrm>
            <a:prstGeom prst="roundRect">
              <a:avLst>
                <a:gd name="adj" fmla="val 10938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085850" y="5105400"/>
              <a:ext cx="152400" cy="1524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81887" y="5071586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周环比正常波动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095375" y="5514975"/>
              <a:ext cx="171450" cy="171450"/>
              <a:chOff x="1095375" y="5514975"/>
              <a:chExt cx="171450" cy="1714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95375" y="55149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64789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52525" y="55816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64789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383792" y="5531168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静默归档,只进自动周报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667500" y="1866900"/>
            <a:ext cx="4762500" cy="4114800"/>
            <a:chOff x="6667500" y="1866900"/>
            <a:chExt cx="4762500" cy="4114800"/>
          </a:xfrm>
        </p:grpSpPr>
        <p:sp>
          <p:nvSpPr>
            <p:cNvPr id="31" name="Rectangle 31"/>
            <p:cNvSpPr/>
            <p:nvPr/>
          </p:nvSpPr>
          <p:spPr>
            <a:xfrm>
              <a:off x="6667500" y="1866900"/>
              <a:ext cx="4762500" cy="4114800"/>
            </a:xfrm>
            <a:prstGeom prst="roundRect">
              <a:avLst>
                <a:gd name="adj" fmla="val 3704"/>
              </a:avLst>
            </a:prstGeom>
            <a:solidFill>
              <a:srgbClr val="101828"/>
            </a:solidFill>
            <a:ln w="9525">
              <a:solidFill>
                <a:srgbClr val="F87171">
                  <a:alpha val="55000"/>
                </a:srgbClr>
              </a:solidFill>
            </a:ln>
            <a:effectLst>
              <a:glow rad="76200">
                <a:srgbClr val="F87171">
                  <a:alpha val="25000"/>
                </a:srgbClr>
              </a:glow>
            </a:effectLst>
          </p:spPr>
        </p:sp>
        <p:sp>
          <p:nvSpPr>
            <p:cNvPr id="32" name="Ellipse 32"/>
            <p:cNvSpPr/>
            <p:nvPr/>
          </p:nvSpPr>
          <p:spPr>
            <a:xfrm>
              <a:off x="6972300" y="2247900"/>
              <a:ext cx="152400" cy="15240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50811" y="2246471"/>
              <a:ext cx="1449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晨报 · 需要关注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58272" y="2270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spc="75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08:45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72300" y="2647950"/>
              <a:ext cx="4152900" cy="9525"/>
            </a:xfrm>
            <a:prstGeom prst="rect">
              <a:avLst/>
            </a:prstGeom>
            <a:solidFill>
              <a:srgbClr val="263A5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63156" y="2948940"/>
              <a:ext cx="32495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《夜航》播放量日环比 -38%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65442" y="3454718"/>
              <a:ext cx="2165414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疑似歌单收录变动,建议排查</a:t>
              </a:r>
              <a:br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外部歌单与推荐位状态。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72300" y="4248150"/>
              <a:ext cx="4152900" cy="838200"/>
            </a:xfrm>
            <a:prstGeom prst="roundRect">
              <a:avLst>
                <a:gd name="adj" fmla="val 13636"/>
              </a:avLst>
            </a:prstGeom>
            <a:solidFill>
              <a:srgbClr val="131C2E"/>
            </a:solidFill>
            <a:ln w="9525">
              <a:solidFill>
                <a:srgbClr val="263A5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94804" y="4461510"/>
              <a:ext cx="688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75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建议动作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94042" y="4750118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联系平台运营核对收录 · 启动切片投放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019925" y="5410200"/>
              <a:ext cx="133350" cy="114300"/>
              <a:chOff x="7019925" y="5410200"/>
              <a:chExt cx="133350" cy="1143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19925" y="546735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96125" y="5467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096125" y="54102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38BDF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308342" y="539781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已生成跟进任务,点击查看详情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3656133" cy="948690"/>
            <a:chOff x="746760" y="647700"/>
            <a:chExt cx="3656133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2571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06 · 场景 A DAY WITH MCM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36561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接入之后:我的一天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1995488"/>
            <a:ext cx="10668000" cy="2957512"/>
            <a:chOff x="762000" y="1995488"/>
            <a:chExt cx="10668000" cy="2957512"/>
          </a:xfrm>
        </p:grpSpPr>
        <p:sp>
          <p:nvSpPr>
            <p:cNvPr id="9" name="Rectangle 9"/>
            <p:cNvSpPr/>
            <p:nvPr/>
          </p:nvSpPr>
          <p:spPr>
            <a:xfrm>
              <a:off x="2009775" y="2038350"/>
              <a:ext cx="817245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952625" y="1995488"/>
              <a:ext cx="114300" cy="114300"/>
            </a:xfrm>
            <a:prstGeom prst="ellipse">
              <a:avLst/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676775" y="1995488"/>
              <a:ext cx="114300" cy="114300"/>
            </a:xfrm>
            <a:prstGeom prst="ellipse">
              <a:avLst/>
            </a:prstGeom>
            <a:solidFill>
              <a:srgbClr val="7D8DF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00925" y="1995488"/>
              <a:ext cx="114300" cy="114300"/>
            </a:xfrm>
            <a:prstGeom prst="ellipse">
              <a:avLst/>
            </a:prstGeom>
            <a:solidFill>
              <a:srgbClr val="54B2F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125075" y="1995488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62000" y="2362200"/>
              <a:ext cx="2495550" cy="2590800"/>
              <a:chOff x="762000" y="2362200"/>
              <a:chExt cx="2495550" cy="25908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62000" y="2362200"/>
                <a:ext cx="2495550" cy="2590800"/>
              </a:xfrm>
              <a:prstGeom prst="roundRect">
                <a:avLst>
                  <a:gd name="adj" fmla="val 5344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7270" y="2690812"/>
                <a:ext cx="8974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gradFill>
                      <a:gsLst>
                        <a:gs pos="0">
                          <a:srgbClr val="8A7CFF"/>
                        </a:gs>
                        <a:gs pos="100000">
                          <a:srgbClr val="38BDF8"/>
                        </a:gs>
                      </a:gsLst>
                      <a:lin ang="0" scaled="1"/>
                    </a:gradFill>
                    <a:latin typeface="Microsoft YaHei"/>
                    <a:ea typeface="Microsoft YaHei"/>
                    <a:cs typeface="Microsoft YaHei"/>
                  </a:rPr>
                  <a:t>08:45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076325" y="3236119"/>
                <a:ext cx="190500" cy="214312"/>
                <a:chOff x="1076325" y="3236119"/>
                <a:chExt cx="190500" cy="214312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1076325" y="3236119"/>
                  <a:ext cx="190500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66688">
                      <a:moveTo>
                        <a:pt x="71438" y="23812"/>
                      </a:moveTo>
                      <a:cubicBezTo>
                        <a:pt x="71438" y="10661"/>
                        <a:pt x="82099" y="0"/>
                        <a:pt x="95250" y="0"/>
                      </a:cubicBezTo>
                      <a:cubicBezTo>
                        <a:pt x="108401" y="0"/>
                        <a:pt x="119062" y="10661"/>
                        <a:pt x="119062" y="23812"/>
                      </a:cubicBezTo>
                      <a:cubicBezTo>
                        <a:pt x="146925" y="36987"/>
                        <a:pt x="165242" y="64463"/>
                        <a:pt x="166688" y="95250"/>
                      </a:cubicBezTo>
                      <a:lnTo>
                        <a:pt x="166688" y="130969"/>
                      </a:lnTo>
                      <a:cubicBezTo>
                        <a:pt x="168505" y="145980"/>
                        <a:pt x="177342" y="159237"/>
                        <a:pt x="190500" y="166688"/>
                      </a:cubicBezTo>
                      <a:lnTo>
                        <a:pt x="0" y="166688"/>
                      </a:lnTo>
                      <a:cubicBezTo>
                        <a:pt x="13158" y="159237"/>
                        <a:pt x="21995" y="145980"/>
                        <a:pt x="23812" y="130969"/>
                      </a:cubicBezTo>
                      <a:lnTo>
                        <a:pt x="23812" y="95250"/>
                      </a:lnTo>
                      <a:cubicBezTo>
                        <a:pt x="25258" y="64463"/>
                        <a:pt x="43575" y="36987"/>
                        <a:pt x="71437" y="23812"/>
                      </a:cubicBezTo>
                    </a:path>
                  </a:pathLst>
                </a:custGeom>
                <a:noFill/>
                <a:ln w="23812">
                  <a:solidFill>
                    <a:srgbClr val="8A7CFF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35856" y="3402806"/>
                  <a:ext cx="7143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47625">
                      <a:moveTo>
                        <a:pt x="0" y="0"/>
                      </a:moveTo>
                      <a:lnTo>
                        <a:pt x="0" y="11906"/>
                      </a:lnTo>
                      <a:cubicBezTo>
                        <a:pt x="0" y="31633"/>
                        <a:pt x="15992" y="47625"/>
                        <a:pt x="35719" y="47625"/>
                      </a:cubicBezTo>
                      <a:cubicBezTo>
                        <a:pt x="55446" y="47625"/>
                        <a:pt x="71438" y="31633"/>
                        <a:pt x="71438" y="11906"/>
                      </a:cubicBez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8A7CFF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20318" y="3784282"/>
                <a:ext cx="7164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晨报到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2223" y="4205764"/>
                <a:ext cx="7969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3 红 2 黄,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2223" y="4491514"/>
                <a:ext cx="15120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其余 30 个群静默。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486150" y="2362200"/>
              <a:ext cx="2495550" cy="2590800"/>
              <a:chOff x="3486150" y="2362200"/>
              <a:chExt cx="2495550" cy="25908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86150" y="2362200"/>
                <a:ext cx="2495550" cy="2590800"/>
              </a:xfrm>
              <a:prstGeom prst="roundRect">
                <a:avLst>
                  <a:gd name="adj" fmla="val 5344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741420" y="2690812"/>
                <a:ext cx="8974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09:30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3788569" y="3236119"/>
                <a:ext cx="214312" cy="214312"/>
                <a:chOff x="3788569" y="3236119"/>
                <a:chExt cx="214312" cy="21431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883819" y="333136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836194" y="328374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788569" y="32361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3744468" y="3784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只跟红色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46373" y="420576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半小时清完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746373" y="449151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全部关键事项。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10300" y="2362200"/>
              <a:ext cx="2495550" cy="2590800"/>
              <a:chOff x="6210300" y="2362200"/>
              <a:chExt cx="2495550" cy="25908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10300" y="2362200"/>
                <a:ext cx="2495550" cy="2590800"/>
              </a:xfrm>
              <a:prstGeom prst="roundRect">
                <a:avLst>
                  <a:gd name="adj" fmla="val 5344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65570" y="2690812"/>
                <a:ext cx="8974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14:00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6524625" y="3236119"/>
                <a:ext cx="190500" cy="214312"/>
                <a:chOff x="6524625" y="3236119"/>
                <a:chExt cx="190500" cy="21431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524625" y="3259931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23812"/>
                      </a:move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66688" y="0"/>
                      </a:lnTo>
                      <a:cubicBezTo>
                        <a:pt x="179839" y="0"/>
                        <a:pt x="190500" y="10661"/>
                        <a:pt x="190500" y="23812"/>
                      </a:cubicBezTo>
                      <a:lnTo>
                        <a:pt x="190500" y="166688"/>
                      </a:lnTo>
                      <a:cubicBezTo>
                        <a:pt x="190500" y="179839"/>
                        <a:pt x="179839" y="190500"/>
                        <a:pt x="166688" y="190500"/>
                      </a:cubicBezTo>
                      <a:lnTo>
                        <a:pt x="23812" y="190500"/>
                      </a:lnTo>
                      <a:cubicBezTo>
                        <a:pt x="10661" y="190500"/>
                        <a:pt x="0" y="179839"/>
                        <a:pt x="0" y="166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23812">
                  <a:solidFill>
                    <a:srgbClr val="FBBF24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667500" y="3236119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23812">
                  <a:solidFill>
                    <a:srgbClr val="FBBF24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572250" y="3236119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0"/>
                      </a:moveTo>
                      <a:lnTo>
                        <a:pt x="0" y="47625"/>
                      </a:lnTo>
                    </a:path>
                  </a:pathLst>
                </a:custGeom>
                <a:noFill/>
                <a:ln w="23812">
                  <a:solidFill>
                    <a:srgbClr val="FBBF24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524625" y="3331369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23812">
                  <a:solidFill>
                    <a:srgbClr val="FBBF24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572250" y="3378994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0"/>
                      </a:moveTo>
                      <a:lnTo>
                        <a:pt x="23812" y="0"/>
                      </a:lnTo>
                      <a:lnTo>
                        <a:pt x="23812" y="23812"/>
                      </a:lnTo>
                      <a:lnTo>
                        <a:pt x="0" y="238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FBBF24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6468618" y="3784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排期自检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70523" y="4205764"/>
                <a:ext cx="109625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T-7 物料提醒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70523" y="4491514"/>
                <a:ext cx="13914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已自动派发到群。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934450" y="2362200"/>
              <a:ext cx="2495550" cy="2590800"/>
              <a:chOff x="8934450" y="2362200"/>
              <a:chExt cx="2495550" cy="25908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934450" y="2362200"/>
                <a:ext cx="2495550" cy="2590800"/>
              </a:xfrm>
              <a:prstGeom prst="roundRect">
                <a:avLst>
                  <a:gd name="adj" fmla="val 5344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189720" y="2690812"/>
                <a:ext cx="897469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2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18:00</a:t>
                </a:r>
              </a:p>
            </p:txBody>
          </p:sp>
          <p:grpSp>
            <p:nvGrpSpPr>
              <p:cNvPr id="52" name="Group 52"/>
              <p:cNvGrpSpPr/>
              <p:nvPr/>
            </p:nvGrpSpPr>
            <p:grpSpPr>
              <a:xfrm>
                <a:off x="9260681" y="3236119"/>
                <a:ext cx="166688" cy="214312"/>
                <a:chOff x="9260681" y="3236119"/>
                <a:chExt cx="166688" cy="214312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9367838" y="3236119"/>
                  <a:ext cx="59531" cy="59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1" h="59531">
                      <a:moveTo>
                        <a:pt x="0" y="0"/>
                      </a:moveTo>
                      <a:lnTo>
                        <a:pt x="0" y="47625"/>
                      </a:lnTo>
                      <a:cubicBezTo>
                        <a:pt x="0" y="54201"/>
                        <a:pt x="5331" y="59531"/>
                        <a:pt x="11906" y="59531"/>
                      </a:cubicBezTo>
                      <a:lnTo>
                        <a:pt x="59531" y="59531"/>
                      </a:lnTo>
                    </a:path>
                  </a:pathLst>
                </a:custGeom>
                <a:noFill/>
                <a:ln w="23812">
                  <a:solidFill>
                    <a:srgbClr val="34D399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260681" y="3236119"/>
                  <a:ext cx="166688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214312">
                      <a:moveTo>
                        <a:pt x="142875" y="214312"/>
                      </a:moveTo>
                      <a:lnTo>
                        <a:pt x="23812" y="214312"/>
                      </a:lnTo>
                      <a:cubicBezTo>
                        <a:pt x="10661" y="214312"/>
                        <a:pt x="0" y="203651"/>
                        <a:pt x="0" y="190500"/>
                      </a:cubicBezTo>
                      <a:lnTo>
                        <a:pt x="0" y="23812"/>
                      </a:ln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107156" y="0"/>
                      </a:lnTo>
                      <a:lnTo>
                        <a:pt x="166688" y="59531"/>
                      </a:lnTo>
                      <a:lnTo>
                        <a:pt x="166688" y="190500"/>
                      </a:lnTo>
                      <a:cubicBezTo>
                        <a:pt x="166688" y="203651"/>
                        <a:pt x="156026" y="214312"/>
                        <a:pt x="142875" y="214312"/>
                      </a:cubicBezTo>
                    </a:path>
                  </a:pathLst>
                </a:custGeom>
                <a:noFill/>
                <a:ln w="23812">
                  <a:solidFill>
                    <a:srgbClr val="34D399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9308306" y="3307556"/>
                  <a:ext cx="1190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" h="9525">
                      <a:moveTo>
                        <a:pt x="0" y="0"/>
                      </a:moveTo>
                      <a:lnTo>
                        <a:pt x="11906" y="0"/>
                      </a:lnTo>
                    </a:path>
                  </a:pathLst>
                </a:custGeom>
                <a:noFill/>
                <a:ln w="23812">
                  <a:solidFill>
                    <a:srgbClr val="34D399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308306" y="3355181"/>
                  <a:ext cx="714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25">
                      <a:moveTo>
                        <a:pt x="0" y="0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34D399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9308306" y="3402806"/>
                  <a:ext cx="714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25">
                      <a:moveTo>
                        <a:pt x="0" y="0"/>
                      </a:move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rgbClr val="34D399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9192768" y="37842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周报草稿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194673" y="4205764"/>
                <a:ext cx="9951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补充 5 分钟,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194673" y="449151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直接发给老板。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762000" y="5334000"/>
            <a:ext cx="10668000" cy="723900"/>
            <a:chOff x="762000" y="5334000"/>
            <a:chExt cx="10668000" cy="723900"/>
          </a:xfrm>
        </p:grpSpPr>
        <p:sp>
          <p:nvSpPr>
            <p:cNvPr id="58" name="Rectangle 58"/>
            <p:cNvSpPr/>
            <p:nvPr/>
          </p:nvSpPr>
          <p:spPr>
            <a:xfrm>
              <a:off x="762000" y="5334000"/>
              <a:ext cx="10668000" cy="723900"/>
            </a:xfrm>
            <a:prstGeom prst="roundRect">
              <a:avLst>
                <a:gd name="adj" fmla="val 18421"/>
              </a:avLst>
            </a:prstGeom>
            <a:solidFill>
              <a:srgbClr val="101828"/>
            </a:solidFill>
            <a:ln w="9525">
              <a:solidFill>
                <a:srgbClr val="2E44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2000" y="5467350"/>
              <a:ext cx="38100" cy="4572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1140619" y="5591175"/>
              <a:ext cx="190500" cy="190501"/>
              <a:chOff x="1140619" y="5591175"/>
              <a:chExt cx="190500" cy="19050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1140619" y="57102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259681" y="571023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212056" y="5591175"/>
                <a:ext cx="119062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54781">
                    <a:moveTo>
                      <a:pt x="0" y="154781"/>
                    </a:moveTo>
                    <a:lnTo>
                      <a:pt x="0" y="0"/>
                    </a:lnTo>
                    <a:lnTo>
                      <a:pt x="119062" y="0"/>
                    </a:lnTo>
                    <a:lnTo>
                      <a:pt x="119062" y="154781"/>
                    </a:ln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212056" y="5638800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rgbClr val="8A7C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592580" y="5610225"/>
              <a:ext cx="5782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信息搬运的时间,还给了艺人——沟通密度不变,决策速度更快。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61731" y="576262"/>
            <a:ext cx="1787319" cy="2162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1250" b="1" dirty="0">
                <a:solidFill>
                  <a:srgbClr val="FFFFFF">
                    <a:alphaMod val="4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760" y="647700"/>
            <a:ext cx="5776398" cy="948690"/>
            <a:chOff x="746760" y="647700"/>
            <a:chExt cx="5776398" cy="948690"/>
          </a:xfrm>
        </p:grpSpPr>
        <p:sp>
          <p:nvSpPr>
            <p:cNvPr id="3" name="Rectangle 3"/>
            <p:cNvSpPr/>
            <p:nvPr/>
          </p:nvSpPr>
          <p:spPr>
            <a:xfrm>
              <a:off x="762000" y="704850"/>
              <a:ext cx="38100" cy="114300"/>
            </a:xfrm>
            <a:prstGeom prst="roundRect">
              <a:avLst>
                <a:gd name="adj" fmla="val 50000"/>
              </a:avLst>
            </a:prstGeom>
            <a:solidFill>
              <a:srgbClr val="8A7C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38200" y="647700"/>
              <a:ext cx="38100" cy="171450"/>
            </a:xfrm>
            <a:prstGeom prst="roundRect">
              <a:avLst>
                <a:gd name="adj" fmla="val 50000"/>
              </a:avLst>
            </a:prstGeom>
            <a:solidFill>
              <a:srgbClr val="5E8DF5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42950"/>
              <a:ext cx="38100" cy="762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2035" y="716756"/>
              <a:ext cx="30017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225" dirty="0">
                  <a:solidFill>
                    <a:srgbClr val="8A7CFF"/>
                  </a:solidFill>
                  <a:latin typeface="Microsoft YaHei"/>
                  <a:ea typeface="Microsoft YaHei"/>
                  <a:cs typeface="Microsoft YaHei"/>
                </a:rPr>
                <a:t>07 · 收益与展望 IMPACT &amp; NEXT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1009650"/>
              <a:ext cx="57763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9EFFB"/>
                  </a:solidFill>
                  <a:latin typeface="Microsoft YaHei"/>
                  <a:ea typeface="Microsoft YaHei"/>
                  <a:cs typeface="Microsoft YaHei"/>
                </a:rPr>
                <a:t>省下的是时间,换来的是判断力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5904" y="1985010"/>
            <a:ext cx="5225796" cy="4072890"/>
            <a:chOff x="755904" y="1985010"/>
            <a:chExt cx="5225796" cy="4072890"/>
          </a:xfrm>
        </p:grpSpPr>
        <p:sp>
          <p:nvSpPr>
            <p:cNvPr id="9" name="TextBox 9"/>
            <p:cNvSpPr txBox="1"/>
            <p:nvPr/>
          </p:nvSpPr>
          <p:spPr>
            <a:xfrm>
              <a:off x="755904" y="1985010"/>
              <a:ext cx="1780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34D399"/>
                  </a:solidFill>
                  <a:latin typeface="Microsoft YaHei"/>
                  <a:ea typeface="Microsoft YaHei"/>
                  <a:cs typeface="Microsoft YaHei"/>
                </a:rPr>
                <a:t>现在 · NOW(自测)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62000" y="2324100"/>
              <a:ext cx="5219700" cy="1066800"/>
              <a:chOff x="762000" y="2324100"/>
              <a:chExt cx="5219700" cy="10668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23241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04900" y="2628900"/>
                <a:ext cx="228599" cy="228599"/>
                <a:chOff x="1104900" y="2628900"/>
                <a:chExt cx="228599" cy="228599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104900" y="26289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0" y="114300"/>
                      </a:moveTo>
                      <a:cubicBezTo>
                        <a:pt x="0" y="177426"/>
                        <a:pt x="51174" y="228599"/>
                        <a:pt x="114300" y="228599"/>
                      </a:cubicBezTo>
                      <a:cubicBezTo>
                        <a:pt x="177426" y="228599"/>
                        <a:pt x="228599" y="177426"/>
                        <a:pt x="228599" y="114300"/>
                      </a:cubicBezTo>
                      <a:cubicBezTo>
                        <a:pt x="228599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19200" y="2679700"/>
                  <a:ext cx="381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01600">
                      <a:moveTo>
                        <a:pt x="0" y="0"/>
                      </a:moveTo>
                      <a:lnTo>
                        <a:pt x="0" y="63500"/>
                      </a:lnTo>
                      <a:lnTo>
                        <a:pt x="38100" y="101600"/>
                      </a:ln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92199" y="257317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例行信息工作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93342" y="2978468"/>
                <a:ext cx="1322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每周约 20h → 3h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657600"/>
              <a:ext cx="5219700" cy="1066800"/>
              <a:chOff x="762000" y="3657600"/>
              <a:chExt cx="5219700" cy="1066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36576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30300" y="39624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01600" y="0"/>
                    </a:moveTo>
                    <a:lnTo>
                      <a:pt x="101600" y="88900"/>
                    </a:lnTo>
                    <a:lnTo>
                      <a:pt x="177800" y="88900"/>
                    </a:lnTo>
                    <a:lnTo>
                      <a:pt x="76200" y="228599"/>
                    </a:lnTo>
                    <a:lnTo>
                      <a:pt x="76200" y="139700"/>
                    </a:lnTo>
                    <a:lnTo>
                      <a:pt x="0" y="139700"/>
                    </a:ln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rgbClr val="34D399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592199" y="390667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红色事项响应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93342" y="4311968"/>
                <a:ext cx="28033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从"半天后看到" → "半小时内处理"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62000" y="4991100"/>
              <a:ext cx="5219700" cy="1066800"/>
              <a:chOff x="762000" y="4991100"/>
              <a:chExt cx="5219700" cy="10668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49911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31C2E"/>
              </a:solidFill>
              <a:ln w="9525">
                <a:solidFill>
                  <a:srgbClr val="263A5E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30300" y="5295900"/>
                <a:ext cx="177800" cy="228599"/>
                <a:chOff x="1130300" y="5295900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244600" y="529590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30300" y="529590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81100" y="537210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81100" y="54229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181100" y="547369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34D399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592199" y="52401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周报产出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93342" y="5645468"/>
                <a:ext cx="26579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手抄 2h → 自动草稿 + 5 分钟审校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6204204" y="1985010"/>
            <a:ext cx="5225796" cy="4072890"/>
            <a:chOff x="6204204" y="1985010"/>
            <a:chExt cx="5225796" cy="4072890"/>
          </a:xfrm>
        </p:grpSpPr>
        <p:sp>
          <p:nvSpPr>
            <p:cNvPr id="33" name="TextBox 33"/>
            <p:cNvSpPr txBox="1"/>
            <p:nvPr/>
          </p:nvSpPr>
          <p:spPr>
            <a:xfrm>
              <a:off x="6204204" y="1985010"/>
              <a:ext cx="1830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225" dirty="0">
                  <a:solidFill>
                    <a:srgbClr val="38BDF8"/>
                  </a:solidFill>
                  <a:latin typeface="Microsoft YaHei"/>
                  <a:ea typeface="Microsoft YaHei"/>
                  <a:cs typeface="Microsoft YaHei"/>
                </a:rPr>
                <a:t>下一步 · ROADMAP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210300" y="2324100"/>
              <a:ext cx="5219700" cy="1066800"/>
              <a:chOff x="6210300" y="2324100"/>
              <a:chExt cx="5219700" cy="1066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10300" y="23241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01828"/>
              </a:solidFill>
              <a:ln w="9525">
                <a:solidFill>
                  <a:srgbClr val="2E4468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565900" y="2641600"/>
                <a:ext cx="212724" cy="215899"/>
                <a:chOff x="6565900" y="2641600"/>
                <a:chExt cx="212724" cy="21589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769099" y="2641600"/>
                  <a:ext cx="9525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1600">
                      <a:moveTo>
                        <a:pt x="0" y="0"/>
                      </a:moveTo>
                      <a:lnTo>
                        <a:pt x="0" y="1016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718299" y="2647950"/>
                  <a:ext cx="952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8900">
                      <a:moveTo>
                        <a:pt x="0" y="0"/>
                      </a:moveTo>
                      <a:lnTo>
                        <a:pt x="0" y="889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667500" y="2654300"/>
                  <a:ext cx="9525" cy="203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3199">
                      <a:moveTo>
                        <a:pt x="0" y="0"/>
                      </a:moveTo>
                      <a:lnTo>
                        <a:pt x="0" y="203199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616700" y="2660650"/>
                  <a:ext cx="9525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3500">
                      <a:moveTo>
                        <a:pt x="0" y="0"/>
                      </a:moveTo>
                      <a:lnTo>
                        <a:pt x="0" y="635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565900" y="26670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65900" y="2692400"/>
                  <a:ext cx="20319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525">
                      <a:moveTo>
                        <a:pt x="20319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040499" y="257317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更多数据源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41642" y="29784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接入短视频与直播平台数据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210300" y="3657600"/>
              <a:ext cx="5219700" cy="1066800"/>
              <a:chOff x="6210300" y="3657600"/>
              <a:chExt cx="5219700" cy="10668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210300" y="36576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01828"/>
              </a:solidFill>
              <a:ln w="9525">
                <a:solidFill>
                  <a:srgbClr val="2E4468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6553200" y="3962400"/>
                <a:ext cx="228599" cy="228599"/>
                <a:chOff x="6553200" y="3962400"/>
                <a:chExt cx="228599" cy="228599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553200" y="3962400"/>
                  <a:ext cx="2285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228599">
                      <a:moveTo>
                        <a:pt x="38100" y="228599"/>
                      </a:moveTo>
                      <a:lnTo>
                        <a:pt x="228599" y="38100"/>
                      </a:lnTo>
                      <a:lnTo>
                        <a:pt x="190500" y="0"/>
                      </a:lnTo>
                      <a:lnTo>
                        <a:pt x="0" y="190500"/>
                      </a:lnTo>
                      <a:lnTo>
                        <a:pt x="38100" y="228599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705600" y="40005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0"/>
                      </a:moveTo>
                      <a:lnTo>
                        <a:pt x="38100" y="381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604000" y="3962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25400" y="0"/>
                      </a:moveTo>
                      <a:cubicBezTo>
                        <a:pt x="25400" y="14028"/>
                        <a:pt x="36772" y="25400"/>
                        <a:pt x="50800" y="25400"/>
                      </a:cubicBezTo>
                      <a:cubicBezTo>
                        <a:pt x="36772" y="25400"/>
                        <a:pt x="25400" y="36772"/>
                        <a:pt x="25400" y="50800"/>
                      </a:cubicBezTo>
                      <a:cubicBezTo>
                        <a:pt x="25400" y="36772"/>
                        <a:pt x="14028" y="25400"/>
                        <a:pt x="0" y="25400"/>
                      </a:cubicBezTo>
                      <a:cubicBezTo>
                        <a:pt x="14028" y="25400"/>
                        <a:pt x="25400" y="14028"/>
                        <a:pt x="25400" y="0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730999" y="4089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25400" y="0"/>
                      </a:moveTo>
                      <a:cubicBezTo>
                        <a:pt x="25400" y="14028"/>
                        <a:pt x="36772" y="25400"/>
                        <a:pt x="50800" y="25400"/>
                      </a:cubicBezTo>
                      <a:cubicBezTo>
                        <a:pt x="36772" y="25400"/>
                        <a:pt x="25400" y="36772"/>
                        <a:pt x="25400" y="50800"/>
                      </a:cubicBezTo>
                      <a:cubicBezTo>
                        <a:pt x="25400" y="36772"/>
                        <a:pt x="14028" y="25400"/>
                        <a:pt x="0" y="25400"/>
                      </a:cubicBezTo>
                      <a:cubicBezTo>
                        <a:pt x="14028" y="25400"/>
                        <a:pt x="25400" y="14028"/>
                        <a:pt x="25400" y="0"/>
                      </a:cubicBez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040499" y="3906679"/>
                <a:ext cx="90934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宣发初稿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41642" y="431196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文案与切片脚本自动生成第一版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210300" y="4991100"/>
              <a:ext cx="5219700" cy="1066800"/>
              <a:chOff x="6210300" y="4991100"/>
              <a:chExt cx="5219700" cy="10668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210300" y="4991100"/>
                <a:ext cx="52197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101828"/>
              </a:solidFill>
              <a:ln w="9525">
                <a:solidFill>
                  <a:srgbClr val="2E4468"/>
                </a:solidFill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6578600" y="5283200"/>
                <a:ext cx="177800" cy="241300"/>
                <a:chOff x="6578600" y="5283200"/>
                <a:chExt cx="177800" cy="24130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591300" y="5308600"/>
                  <a:ext cx="1524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01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27000" y="0"/>
                      </a:lnTo>
                      <a:cubicBezTo>
                        <a:pt x="141028" y="0"/>
                        <a:pt x="152400" y="11372"/>
                        <a:pt x="152400" y="25400"/>
                      </a:cubicBezTo>
                      <a:lnTo>
                        <a:pt x="152400" y="76200"/>
                      </a:lnTo>
                      <a:cubicBezTo>
                        <a:pt x="152400" y="90228"/>
                        <a:pt x="141028" y="101600"/>
                        <a:pt x="1270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667500" y="528320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629400" y="54102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705600" y="541020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578600" y="543560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2540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6705600" y="5435600"/>
                  <a:ext cx="508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25400">
                      <a:moveTo>
                        <a:pt x="0" y="0"/>
                      </a:moveTo>
                      <a:lnTo>
                        <a:pt x="50800" y="2540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6629400" y="548639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642100" y="5359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92900" y="5359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25400">
                  <a:solidFill>
                    <a:srgbClr val="38BDF8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7040499" y="5240179"/>
                <a:ext cx="1579344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rgbClr val="E9EFFB"/>
                    </a:solidFill>
                    <a:latin typeface="Microsoft YaHei"/>
                    <a:ea typeface="Microsoft YaHei"/>
                    <a:cs typeface="Microsoft YaHei"/>
                  </a:rPr>
                  <a:t>艺人自助机器人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041642" y="56454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9AA9C7"/>
                    </a:solidFill>
                    <a:latin typeface="Microsoft YaHei"/>
                    <a:ea typeface="Microsoft YaHei"/>
                    <a:cs typeface="Microsoft YaHei"/>
                  </a:rPr>
                  <a:t>艺人在群里直接查自己的数据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2952750" y="0"/>
            <a:ext cx="6286500" cy="6286500"/>
          </a:xfrm>
          <a:prstGeom prst="ellipse">
            <a:avLst/>
          </a:prstGeom>
          <a:gradFill>
            <a:gsLst>
              <a:gs pos="0">
                <a:srgbClr val="8A7CFF">
                  <a:alpha val="25000"/>
                </a:srgbClr>
              </a:gs>
              <a:gs pos="100000">
                <a:srgbClr val="8A7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762000" y="914400"/>
            <a:ext cx="10668000" cy="5029200"/>
          </a:xfrm>
          <a:custGeom>
            <a:avLst/>
            <a:gdLst/>
            <a:ahLst/>
            <a:cxnLst/>
            <a:rect l="l" t="t" r="r" b="b"/>
            <a:pathLst>
              <a:path w="10668000" h="5029200">
                <a:moveTo>
                  <a:pt x="0" y="0"/>
                </a:moveTo>
                <a:lnTo>
                  <a:pt x="381000" y="0"/>
                </a:lnTo>
                <a:moveTo>
                  <a:pt x="0" y="0"/>
                </a:moveTo>
                <a:lnTo>
                  <a:pt x="0" y="381000"/>
                </a:lnTo>
                <a:moveTo>
                  <a:pt x="10668000" y="0"/>
                </a:moveTo>
                <a:lnTo>
                  <a:pt x="10287000" y="0"/>
                </a:lnTo>
                <a:moveTo>
                  <a:pt x="10668000" y="0"/>
                </a:moveTo>
                <a:lnTo>
                  <a:pt x="10668000" y="381000"/>
                </a:lnTo>
                <a:moveTo>
                  <a:pt x="0" y="5029200"/>
                </a:moveTo>
                <a:lnTo>
                  <a:pt x="381000" y="5029200"/>
                </a:lnTo>
                <a:moveTo>
                  <a:pt x="0" y="5029200"/>
                </a:moveTo>
                <a:lnTo>
                  <a:pt x="0" y="4648200"/>
                </a:lnTo>
                <a:moveTo>
                  <a:pt x="10668000" y="5029200"/>
                </a:moveTo>
                <a:lnTo>
                  <a:pt x="10287000" y="5029200"/>
                </a:lnTo>
                <a:moveTo>
                  <a:pt x="10668000" y="5029200"/>
                </a:moveTo>
                <a:lnTo>
                  <a:pt x="10668000" y="4648200"/>
                </a:lnTo>
              </a:path>
            </a:pathLst>
          </a:custGeom>
          <a:noFill/>
          <a:ln w="19050">
            <a:solidFill>
              <a:srgbClr val="2E4468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5486400" y="1866900"/>
            <a:ext cx="857250" cy="990600"/>
            <a:chOff x="5486400" y="1866900"/>
            <a:chExt cx="857250" cy="990600"/>
          </a:xfrm>
        </p:grpSpPr>
        <p:sp>
          <p:nvSpPr>
            <p:cNvPr id="4" name="Rectangle 4"/>
            <p:cNvSpPr/>
            <p:nvPr/>
          </p:nvSpPr>
          <p:spPr>
            <a:xfrm>
              <a:off x="5486400" y="2209800"/>
              <a:ext cx="9525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>
                    <a:alpha val="55000"/>
                  </a:srgbClr>
                </a:gs>
                <a:gs pos="100000">
                  <a:srgbClr val="38BDF8">
                    <a:alpha val="5500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676900" y="2057400"/>
              <a:ext cx="95250" cy="685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>
                    <a:alpha val="75000"/>
                  </a:srgbClr>
                </a:gs>
                <a:gs pos="100000">
                  <a:srgbClr val="38BDF8">
                    <a:alpha val="7500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867400" y="1866900"/>
              <a:ext cx="95250" cy="990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57900" y="2057400"/>
              <a:ext cx="95250" cy="685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>
                    <a:alpha val="75000"/>
                  </a:srgbClr>
                </a:gs>
                <a:gs pos="100000">
                  <a:srgbClr val="38BDF8">
                    <a:alpha val="75000"/>
                  </a:srgbClr>
                </a:gs>
              </a:gsLst>
              <a:lin ang="16200000" scaled="1"/>
            </a:gra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248400" y="2209800"/>
              <a:ext cx="95250" cy="381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>
                    <a:alpha val="55000"/>
                  </a:srgbClr>
                </a:gs>
                <a:gs pos="100000">
                  <a:srgbClr val="38BDF8">
                    <a:alpha val="55000"/>
                  </a:srgbClr>
                </a:gs>
              </a:gsLst>
              <a:lin ang="1620000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702253" y="3329940"/>
            <a:ext cx="4787494" cy="1215199"/>
            <a:chOff x="3702253" y="3329940"/>
            <a:chExt cx="4787494" cy="1215199"/>
          </a:xfrm>
        </p:grpSpPr>
        <p:sp>
          <p:nvSpPr>
            <p:cNvPr id="10" name="TextBox 10"/>
            <p:cNvSpPr txBox="1"/>
            <p:nvPr/>
          </p:nvSpPr>
          <p:spPr>
            <a:xfrm>
              <a:off x="3702253" y="3329940"/>
              <a:ext cx="47874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E9EFFB"/>
                  </a:solidFill>
                  <a:effectLst>
                    <a:glow rad="76200">
                      <a:srgbClr val="8A7CFF">
                        <a:alpha val="4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把时间还给音乐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19371" y="4222432"/>
              <a:ext cx="43532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9AA9C7"/>
                  </a:solidFill>
                  <a:latin typeface="Microsoft YaHei"/>
                  <a:ea typeface="Microsoft YaHei"/>
                  <a:cs typeface="Microsoft YaHei"/>
                </a:rPr>
                <a:t>Music Creator Manager · 个人作业重制版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05516" y="4953000"/>
            <a:ext cx="5780969" cy="822484"/>
            <a:chOff x="3205516" y="4953000"/>
            <a:chExt cx="5780969" cy="822484"/>
          </a:xfrm>
        </p:grpSpPr>
        <p:sp>
          <p:nvSpPr>
            <p:cNvPr id="13" name="Rectangle 13"/>
            <p:cNvSpPr/>
            <p:nvPr/>
          </p:nvSpPr>
          <p:spPr>
            <a:xfrm>
              <a:off x="5619750" y="4953000"/>
              <a:ext cx="9525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A7CFF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01920" y="5223510"/>
              <a:ext cx="4788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89E"/>
                  </a:solidFill>
                  <a:latin typeface="Microsoft YaHei"/>
                  <a:ea typeface="Microsoft YaHei"/>
                  <a:cs typeface="Microsoft YaHei"/>
                </a:rPr>
                <a:t>本次试用了小红书榜单里的 7 个开源 PPT skill,本页由第一名重建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5516" y="5555456"/>
              <a:ext cx="5780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spc="150" dirty="0">
                  <a:solidFill>
                    <a:srgbClr val="4A5D80"/>
                  </a:solidFill>
                  <a:latin typeface="Microsoft YaHei"/>
                  <a:ea typeface="Microsoft YaHei"/>
                  <a:cs typeface="Microsoft YaHei"/>
                </a:rPr>
                <a:t>REBUILT WITH HUGOHE / PPT-MASTER · CLAUDE CODE · 2026.08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7047" y="6466999"/>
            <a:ext cx="10677906" cy="190690"/>
            <a:chOff x="757047" y="6466999"/>
            <a:chExt cx="106779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757047" y="6466999"/>
              <a:ext cx="22390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225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MUSIC CREATOR MANAGER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61932" y="6466999"/>
              <a:ext cx="573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spc="150" dirty="0">
                  <a:solidFill>
                    <a:srgbClr val="3E5174"/>
                  </a:solidFill>
                  <a:latin typeface="Microsoft YaHei"/>
                  <a:ea typeface="Microsoft YaHei"/>
                  <a:cs typeface="Microsoft YaHei"/>
                </a:rPr>
                <a:t>11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usic-creator-manager">
  <a:themeElements>
    <a:clrScheme name="music-creator-manage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usic-creator-manage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usic-creator-manag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2026-08-12T00:21:28Z</dcterms:created>
  <dcterms:modified xsi:type="dcterms:W3CDTF">2026-08-12T00:21:28Z</dcterms:modified>
  <cp:category/>
  <cp:contentStatus/>
</cp:coreProperties>
</file>